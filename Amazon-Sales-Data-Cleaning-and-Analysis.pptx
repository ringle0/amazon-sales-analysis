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6.svg" ContentType="image/svg+xml"/>
  <Override PartName="/ppt/media/image7.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76" r:id="rId3"/>
    <p:sldId id="277" r:id="rId5"/>
    <p:sldId id="278" r:id="rId6"/>
    <p:sldId id="286" r:id="rId7"/>
    <p:sldId id="279" r:id="rId8"/>
    <p:sldId id="287" r:id="rId9"/>
    <p:sldId id="280" r:id="rId10"/>
    <p:sldId id="281" r:id="rId11"/>
    <p:sldId id="282" r:id="rId12"/>
    <p:sldId id="283" r:id="rId13"/>
    <p:sldId id="289" r:id="rId14"/>
    <p:sldId id="284" r:id="rId15"/>
    <p:sldId id="288" r:id="rId16"/>
  </p:sldIdLst>
  <p:sldSz cx="14630400" cy="8229600"/>
  <p:notesSz cx="8229600" cy="14630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C73E6"/>
          </a:solidFill>
        </p:spPr>
      </p:sp>
      <p:sp>
        <p:nvSpPr>
          <p:cNvPr id="3" name="Shape 1"/>
          <p:cNvSpPr/>
          <p:nvPr/>
        </p:nvSpPr>
        <p:spPr>
          <a:xfrm>
            <a:off x="0" y="0"/>
            <a:ext cx="14630400" cy="8229600"/>
          </a:xfrm>
          <a:prstGeom prst="rect">
            <a:avLst/>
          </a:prstGeom>
          <a:solidFill>
            <a:srgbClr val="F9F9FF"/>
          </a:solidFill>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C73E6"/>
          </a:solidFill>
        </p:spPr>
      </p:sp>
      <p:sp>
        <p:nvSpPr>
          <p:cNvPr id="3" name="Shape 1"/>
          <p:cNvSpPr/>
          <p:nvPr/>
        </p:nvSpPr>
        <p:spPr>
          <a:xfrm>
            <a:off x="0" y="0"/>
            <a:ext cx="14630400" cy="8229600"/>
          </a:xfrm>
          <a:prstGeom prst="rect">
            <a:avLst/>
          </a:prstGeom>
          <a:solidFill>
            <a:srgbClr val="F9F9FF"/>
          </a:solidFill>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C73E6"/>
          </a:solidFill>
        </p:spPr>
      </p:sp>
      <p:sp>
        <p:nvSpPr>
          <p:cNvPr id="3" name="Shape 1"/>
          <p:cNvSpPr/>
          <p:nvPr/>
        </p:nvSpPr>
        <p:spPr>
          <a:xfrm>
            <a:off x="0" y="0"/>
            <a:ext cx="14630400" cy="8229600"/>
          </a:xfrm>
          <a:prstGeom prst="rect">
            <a:avLst/>
          </a:prstGeom>
          <a:solidFill>
            <a:srgbClr val="F9F9FF"/>
          </a:solidFill>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C73E6"/>
          </a:solidFill>
        </p:spPr>
      </p:sp>
      <p:sp>
        <p:nvSpPr>
          <p:cNvPr id="3" name="Shape 1"/>
          <p:cNvSpPr/>
          <p:nvPr/>
        </p:nvSpPr>
        <p:spPr>
          <a:xfrm>
            <a:off x="0" y="0"/>
            <a:ext cx="14630400" cy="8229600"/>
          </a:xfrm>
          <a:prstGeom prst="rect">
            <a:avLst/>
          </a:prstGeom>
          <a:solidFill>
            <a:srgbClr val="F9F9FF"/>
          </a:solidFill>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C73E6"/>
          </a:solidFill>
        </p:spPr>
      </p:sp>
      <p:sp>
        <p:nvSpPr>
          <p:cNvPr id="3" name="Shape 1"/>
          <p:cNvSpPr/>
          <p:nvPr/>
        </p:nvSpPr>
        <p:spPr>
          <a:xfrm>
            <a:off x="0" y="0"/>
            <a:ext cx="14630400" cy="8229600"/>
          </a:xfrm>
          <a:prstGeom prst="rect">
            <a:avLst/>
          </a:prstGeom>
          <a:solidFill>
            <a:srgbClr val="F9F9FF"/>
          </a:solidFill>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C73E6"/>
          </a:solidFill>
        </p:spPr>
      </p:sp>
      <p:sp>
        <p:nvSpPr>
          <p:cNvPr id="3" name="Shape 1"/>
          <p:cNvSpPr/>
          <p:nvPr/>
        </p:nvSpPr>
        <p:spPr>
          <a:xfrm>
            <a:off x="0" y="0"/>
            <a:ext cx="14630400" cy="8229600"/>
          </a:xfrm>
          <a:prstGeom prst="rect">
            <a:avLst/>
          </a:prstGeom>
          <a:solidFill>
            <a:srgbClr val="F9F9FF"/>
          </a:solidFill>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C73E6"/>
          </a:solidFill>
        </p:spPr>
      </p:sp>
      <p:sp>
        <p:nvSpPr>
          <p:cNvPr id="3" name="Shape 1"/>
          <p:cNvSpPr/>
          <p:nvPr/>
        </p:nvSpPr>
        <p:spPr>
          <a:xfrm>
            <a:off x="0" y="0"/>
            <a:ext cx="14630400" cy="8229600"/>
          </a:xfrm>
          <a:prstGeom prst="rect">
            <a:avLst/>
          </a:prstGeom>
          <a:solidFill>
            <a:srgbClr val="F9F9FF"/>
          </a:solidFill>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C73E6"/>
          </a:solidFill>
        </p:spPr>
      </p:sp>
      <p:sp>
        <p:nvSpPr>
          <p:cNvPr id="3" name="Shape 1"/>
          <p:cNvSpPr/>
          <p:nvPr/>
        </p:nvSpPr>
        <p:spPr>
          <a:xfrm>
            <a:off x="0" y="0"/>
            <a:ext cx="14630400" cy="8229600"/>
          </a:xfrm>
          <a:prstGeom prst="rect">
            <a:avLst/>
          </a:prstGeom>
          <a:solidFill>
            <a:srgbClr val="F9F9FF"/>
          </a:solidFill>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C73E6"/>
          </a:solidFill>
        </p:spPr>
      </p:sp>
      <p:sp>
        <p:nvSpPr>
          <p:cNvPr id="3" name="Shape 1"/>
          <p:cNvSpPr/>
          <p:nvPr/>
        </p:nvSpPr>
        <p:spPr>
          <a:xfrm>
            <a:off x="0" y="0"/>
            <a:ext cx="14630400" cy="8229600"/>
          </a:xfrm>
          <a:prstGeom prst="rect">
            <a:avLst/>
          </a:prstGeom>
          <a:solidFill>
            <a:srgbClr val="F9F9FF"/>
          </a:solidFill>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C73E6"/>
          </a:solidFill>
        </p:spPr>
      </p:sp>
      <p:sp>
        <p:nvSpPr>
          <p:cNvPr id="3" name="Shape 1"/>
          <p:cNvSpPr/>
          <p:nvPr/>
        </p:nvSpPr>
        <p:spPr>
          <a:xfrm>
            <a:off x="0" y="0"/>
            <a:ext cx="14630400" cy="8229600"/>
          </a:xfrm>
          <a:prstGeom prst="rect">
            <a:avLst/>
          </a:prstGeom>
          <a:solidFill>
            <a:srgbClr val="F9F9FF"/>
          </a:solidFill>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C73E6"/>
          </a:solidFill>
        </p:spPr>
      </p:sp>
      <p:sp>
        <p:nvSpPr>
          <p:cNvPr id="3" name="Shape 1"/>
          <p:cNvSpPr/>
          <p:nvPr/>
        </p:nvSpPr>
        <p:spPr>
          <a:xfrm>
            <a:off x="0" y="0"/>
            <a:ext cx="14630400" cy="8229600"/>
          </a:xfrm>
          <a:prstGeom prst="rect">
            <a:avLst/>
          </a:prstGeom>
          <a:solidFill>
            <a:srgbClr val="F9F9FF"/>
          </a:solidFill>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C73E6"/>
          </a:solidFill>
        </p:spPr>
      </p:sp>
      <p:sp>
        <p:nvSpPr>
          <p:cNvPr id="3" name="Shape 1"/>
          <p:cNvSpPr/>
          <p:nvPr/>
        </p:nvSpPr>
        <p:spPr>
          <a:xfrm>
            <a:off x="0" y="0"/>
            <a:ext cx="14630400" cy="8229600"/>
          </a:xfrm>
          <a:prstGeom prst="rect">
            <a:avLst/>
          </a:prstGeom>
          <a:solidFill>
            <a:srgbClr val="F9F9FF"/>
          </a:solidFill>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C73E6"/>
          </a:solidFill>
        </p:spPr>
      </p:sp>
      <p:sp>
        <p:nvSpPr>
          <p:cNvPr id="3" name="Shape 1"/>
          <p:cNvSpPr/>
          <p:nvPr/>
        </p:nvSpPr>
        <p:spPr>
          <a:xfrm>
            <a:off x="0" y="0"/>
            <a:ext cx="14630400" cy="8229600"/>
          </a:xfrm>
          <a:prstGeom prst="rect">
            <a:avLst/>
          </a:prstGeom>
          <a:solidFill>
            <a:srgbClr val="F9F9FF"/>
          </a:solidFill>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C73E6"/>
          </a:solidFill>
        </p:spPr>
      </p:sp>
      <p:sp>
        <p:nvSpPr>
          <p:cNvPr id="3" name="Shape 1"/>
          <p:cNvSpPr/>
          <p:nvPr/>
        </p:nvSpPr>
        <p:spPr>
          <a:xfrm>
            <a:off x="0" y="0"/>
            <a:ext cx="14630400" cy="8229600"/>
          </a:xfrm>
          <a:prstGeom prst="rect">
            <a:avLst/>
          </a:prstGeom>
          <a:solidFill>
            <a:srgbClr val="F9F9FF"/>
          </a:solidFill>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C73E6"/>
          </a:solidFill>
        </p:spPr>
      </p:sp>
      <p:sp>
        <p:nvSpPr>
          <p:cNvPr id="3" name="Shape 1"/>
          <p:cNvSpPr/>
          <p:nvPr/>
        </p:nvSpPr>
        <p:spPr>
          <a:xfrm>
            <a:off x="0" y="0"/>
            <a:ext cx="14630400" cy="8229600"/>
          </a:xfrm>
          <a:prstGeom prst="rect">
            <a:avLst/>
          </a:prstGeom>
          <a:solidFill>
            <a:srgbClr val="F9F9FF"/>
          </a:solidFill>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1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C73E6"/>
          </a:solidFill>
        </p:spPr>
      </p:sp>
      <p:sp>
        <p:nvSpPr>
          <p:cNvPr id="3" name="Shape 1"/>
          <p:cNvSpPr/>
          <p:nvPr/>
        </p:nvSpPr>
        <p:spPr>
          <a:xfrm>
            <a:off x="0" y="0"/>
            <a:ext cx="14630400" cy="8229600"/>
          </a:xfrm>
          <a:prstGeom prst="rect">
            <a:avLst/>
          </a:prstGeom>
          <a:solidFill>
            <a:srgbClr val="F9F9FF"/>
          </a:solidFill>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lide 1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C73E6"/>
          </a:solidFill>
        </p:spPr>
      </p:sp>
      <p:sp>
        <p:nvSpPr>
          <p:cNvPr id="3" name="Shape 1"/>
          <p:cNvSpPr/>
          <p:nvPr/>
        </p:nvSpPr>
        <p:spPr>
          <a:xfrm>
            <a:off x="0" y="0"/>
            <a:ext cx="14630400" cy="8229600"/>
          </a:xfrm>
          <a:prstGeom prst="rect">
            <a:avLst/>
          </a:prstGeom>
          <a:solidFill>
            <a:srgbClr val="F9F9FF"/>
          </a:solidFill>
        </p:spPr>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lide 1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C73E6"/>
          </a:solidFill>
        </p:spPr>
      </p:sp>
      <p:sp>
        <p:nvSpPr>
          <p:cNvPr id="3" name="Shape 1"/>
          <p:cNvSpPr/>
          <p:nvPr/>
        </p:nvSpPr>
        <p:spPr>
          <a:xfrm>
            <a:off x="0" y="0"/>
            <a:ext cx="14630400" cy="8229600"/>
          </a:xfrm>
          <a:prstGeom prst="rect">
            <a:avLst/>
          </a:prstGeom>
          <a:solidFill>
            <a:srgbClr val="F9F9FF"/>
          </a:solidFill>
        </p:spPr>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lide 1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C73E6"/>
          </a:solidFill>
        </p:spPr>
      </p:sp>
      <p:sp>
        <p:nvSpPr>
          <p:cNvPr id="3" name="Shape 1"/>
          <p:cNvSpPr/>
          <p:nvPr/>
        </p:nvSpPr>
        <p:spPr>
          <a:xfrm>
            <a:off x="0" y="0"/>
            <a:ext cx="14630400" cy="8229600"/>
          </a:xfrm>
          <a:prstGeom prst="rect">
            <a:avLst/>
          </a:prstGeom>
          <a:solidFill>
            <a:srgbClr val="F9F9FF"/>
          </a:solidFill>
        </p:spPr>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lide 2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C73E6"/>
          </a:solidFill>
        </p:spPr>
      </p:sp>
      <p:sp>
        <p:nvSpPr>
          <p:cNvPr id="3" name="Shape 1"/>
          <p:cNvSpPr/>
          <p:nvPr/>
        </p:nvSpPr>
        <p:spPr>
          <a:xfrm>
            <a:off x="0" y="0"/>
            <a:ext cx="14630400" cy="8229600"/>
          </a:xfrm>
          <a:prstGeom prst="rect">
            <a:avLst/>
          </a:prstGeom>
          <a:solidFill>
            <a:srgbClr val="F9F9FF"/>
          </a:solidFill>
        </p:spPr>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Slide 2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C73E6"/>
          </a:solidFill>
        </p:spPr>
      </p:sp>
      <p:sp>
        <p:nvSpPr>
          <p:cNvPr id="3" name="Shape 1"/>
          <p:cNvSpPr/>
          <p:nvPr/>
        </p:nvSpPr>
        <p:spPr>
          <a:xfrm>
            <a:off x="0" y="0"/>
            <a:ext cx="14630400" cy="8229600"/>
          </a:xfrm>
          <a:prstGeom prst="rect">
            <a:avLst/>
          </a:prstGeom>
          <a:solidFill>
            <a:srgbClr val="F9F9FF"/>
          </a:solidFill>
        </p:spPr>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Slide 2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C73E6"/>
          </a:solidFill>
        </p:spPr>
      </p:sp>
      <p:sp>
        <p:nvSpPr>
          <p:cNvPr id="3" name="Shape 1"/>
          <p:cNvSpPr/>
          <p:nvPr/>
        </p:nvSpPr>
        <p:spPr>
          <a:xfrm>
            <a:off x="0" y="0"/>
            <a:ext cx="14630400" cy="8229600"/>
          </a:xfrm>
          <a:prstGeom prst="rect">
            <a:avLst/>
          </a:prstGeom>
          <a:solidFill>
            <a:srgbClr val="F9F9FF"/>
          </a:solidFill>
        </p:spPr>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Slide 2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C73E6"/>
          </a:solidFill>
        </p:spPr>
      </p:sp>
      <p:sp>
        <p:nvSpPr>
          <p:cNvPr id="3" name="Shape 1"/>
          <p:cNvSpPr/>
          <p:nvPr/>
        </p:nvSpPr>
        <p:spPr>
          <a:xfrm>
            <a:off x="0" y="0"/>
            <a:ext cx="14630400" cy="8229600"/>
          </a:xfrm>
          <a:prstGeom prst="rect">
            <a:avLst/>
          </a:prstGeom>
          <a:solidFill>
            <a:srgbClr val="F9F9FF"/>
          </a:solidFill>
        </p:spPr>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Slide 2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C73E6"/>
          </a:solidFill>
        </p:spPr>
      </p:sp>
      <p:sp>
        <p:nvSpPr>
          <p:cNvPr id="3" name="Shape 1"/>
          <p:cNvSpPr/>
          <p:nvPr/>
        </p:nvSpPr>
        <p:spPr>
          <a:xfrm>
            <a:off x="0" y="0"/>
            <a:ext cx="14630400" cy="8229600"/>
          </a:xfrm>
          <a:prstGeom prst="rect">
            <a:avLst/>
          </a:prstGeom>
          <a:solidFill>
            <a:srgbClr val="F9F9FF"/>
          </a:solidFill>
        </p:spPr>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Slide 2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C73E6"/>
          </a:solidFill>
        </p:spPr>
      </p:sp>
      <p:sp>
        <p:nvSpPr>
          <p:cNvPr id="3" name="Shape 1"/>
          <p:cNvSpPr/>
          <p:nvPr/>
        </p:nvSpPr>
        <p:spPr>
          <a:xfrm>
            <a:off x="0" y="0"/>
            <a:ext cx="14630400" cy="8229600"/>
          </a:xfrm>
          <a:prstGeom prst="rect">
            <a:avLst/>
          </a:prstGeom>
          <a:solidFill>
            <a:srgbClr val="F9F9FF"/>
          </a:solidFill>
        </p:spPr>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Slide 2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C73E6"/>
          </a:solidFill>
        </p:spPr>
      </p:sp>
      <p:sp>
        <p:nvSpPr>
          <p:cNvPr id="3" name="Shape 1"/>
          <p:cNvSpPr/>
          <p:nvPr/>
        </p:nvSpPr>
        <p:spPr>
          <a:xfrm>
            <a:off x="0" y="0"/>
            <a:ext cx="14630400" cy="8229600"/>
          </a:xfrm>
          <a:prstGeom prst="rect">
            <a:avLst/>
          </a:prstGeom>
          <a:solidFill>
            <a:srgbClr val="F9F9FF"/>
          </a:solidFill>
        </p:spPr>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Slide 2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C73E6"/>
          </a:solidFill>
        </p:spPr>
      </p:sp>
      <p:sp>
        <p:nvSpPr>
          <p:cNvPr id="3" name="Shape 1"/>
          <p:cNvSpPr/>
          <p:nvPr/>
        </p:nvSpPr>
        <p:spPr>
          <a:xfrm>
            <a:off x="0" y="0"/>
            <a:ext cx="14630400" cy="8229600"/>
          </a:xfrm>
          <a:prstGeom prst="rect">
            <a:avLst/>
          </a:prstGeom>
          <a:solidFill>
            <a:srgbClr val="F9F9FF"/>
          </a:solidFill>
        </p:spPr>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Slide 2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C73E6"/>
          </a:solidFill>
        </p:spPr>
      </p:sp>
      <p:sp>
        <p:nvSpPr>
          <p:cNvPr id="3" name="Shape 1"/>
          <p:cNvSpPr/>
          <p:nvPr/>
        </p:nvSpPr>
        <p:spPr>
          <a:xfrm>
            <a:off x="0" y="0"/>
            <a:ext cx="14630400" cy="8229600"/>
          </a:xfrm>
          <a:prstGeom prst="rect">
            <a:avLst/>
          </a:prstGeom>
          <a:solidFill>
            <a:srgbClr val="F9F9FF"/>
          </a:solidFill>
        </p:spPr>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Slide 2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C73E6"/>
          </a:solidFill>
        </p:spPr>
      </p:sp>
      <p:sp>
        <p:nvSpPr>
          <p:cNvPr id="3" name="Shape 1"/>
          <p:cNvSpPr/>
          <p:nvPr/>
        </p:nvSpPr>
        <p:spPr>
          <a:xfrm>
            <a:off x="0" y="0"/>
            <a:ext cx="14630400" cy="8229600"/>
          </a:xfrm>
          <a:prstGeom prst="rect">
            <a:avLst/>
          </a:prstGeom>
          <a:solidFill>
            <a:srgbClr val="F9F9FF"/>
          </a:solidFill>
        </p:spPr>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Slide 3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C73E6"/>
          </a:solidFill>
        </p:spPr>
      </p:sp>
      <p:sp>
        <p:nvSpPr>
          <p:cNvPr id="3" name="Shape 1"/>
          <p:cNvSpPr/>
          <p:nvPr/>
        </p:nvSpPr>
        <p:spPr>
          <a:xfrm>
            <a:off x="0" y="0"/>
            <a:ext cx="14630400" cy="8229600"/>
          </a:xfrm>
          <a:prstGeom prst="rect">
            <a:avLst/>
          </a:prstGeom>
          <a:solidFill>
            <a:srgbClr val="F9F9FF"/>
          </a:solidFill>
        </p:spPr>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2" Type="http://schemas.openxmlformats.org/officeDocument/2006/relationships/theme" Target="../theme/theme1.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 Type="http://schemas.openxmlformats.org/officeDocument/2006/relationships/slideLayout" Target="../slideLayouts/slideLayout3.xml"/><Relationship Id="rId29" Type="http://schemas.openxmlformats.org/officeDocument/2006/relationships/slideLayout" Target="../slideLayouts/slideLayout29.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9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9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4.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4.xml"/><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5.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5.xml"/><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26.xml"/><Relationship Id="rId2" Type="http://schemas.openxmlformats.org/officeDocument/2006/relationships/image" Target="../media/image4.png"/><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6" Type="http://schemas.openxmlformats.org/officeDocument/2006/relationships/notesSlide" Target="../notesSlides/notesSlide6.xml"/><Relationship Id="rId5" Type="http://schemas.openxmlformats.org/officeDocument/2006/relationships/slideLayout" Target="../slideLayouts/slideLayout27.xml"/><Relationship Id="rId4" Type="http://schemas.openxmlformats.org/officeDocument/2006/relationships/image" Target="../media/image8.svg"/><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8.xml"/><Relationship Id="rId1" Type="http://schemas.openxmlformats.org/officeDocument/2006/relationships/image" Target="../media/image9.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9.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9.xml"/><Relationship Id="rId1" Type="http://schemas.openxmlformats.org/officeDocument/2006/relationships/image" Target="../media/image10.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0.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30.xml"/><Relationship Id="rId1"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1934408"/>
            <a:ext cx="2480905" cy="310158"/>
          </a:xfrm>
          <a:prstGeom prst="rect">
            <a:avLst/>
          </a:prstGeom>
          <a:noFill/>
        </p:spPr>
        <p:txBody>
          <a:bodyPr wrap="none" lIns="0" tIns="0" rIns="0" bIns="0" rtlCol="0" anchor="t"/>
          <a:lstStyle/>
          <a:p>
            <a:pPr marL="0" indent="0" algn="l">
              <a:lnSpc>
                <a:spcPts val="2400"/>
              </a:lnSpc>
              <a:buNone/>
            </a:pPr>
            <a:r>
              <a:rPr lang="en-US" sz="1950" dirty="0">
                <a:solidFill>
                  <a:srgbClr val="1B1B27"/>
                </a:solidFill>
                <a:latin typeface="微软雅黑" pitchFamily="34" charset="0"/>
                <a:ea typeface="微软雅黑" pitchFamily="34" charset="-122"/>
                <a:cs typeface="微软雅黑" pitchFamily="34" charset="-120"/>
              </a:rPr>
              <a:t>Business Intelligence</a:t>
            </a:r>
            <a:endParaRPr lang="en-US" sz="1950" dirty="0"/>
          </a:p>
        </p:txBody>
      </p:sp>
      <p:sp>
        <p:nvSpPr>
          <p:cNvPr id="3" name="Text 1"/>
          <p:cNvSpPr/>
          <p:nvPr/>
        </p:nvSpPr>
        <p:spPr>
          <a:xfrm>
            <a:off x="793790" y="2323862"/>
            <a:ext cx="7185065" cy="620078"/>
          </a:xfrm>
          <a:prstGeom prst="rect">
            <a:avLst/>
          </a:prstGeom>
          <a:noFill/>
        </p:spPr>
        <p:txBody>
          <a:bodyPr wrap="none" lIns="0" tIns="0" rIns="0" bIns="0" rtlCol="0" anchor="t"/>
          <a:lstStyle/>
          <a:p>
            <a:pPr marL="0" indent="0" algn="l">
              <a:lnSpc>
                <a:spcPts val="4850"/>
              </a:lnSpc>
              <a:buNone/>
            </a:pPr>
            <a:r>
              <a:rPr lang="en-US" sz="3900" dirty="0">
                <a:solidFill>
                  <a:srgbClr val="1B1B27"/>
                </a:solidFill>
                <a:latin typeface="微软雅黑" pitchFamily="34" charset="0"/>
                <a:ea typeface="微软雅黑" pitchFamily="34" charset="-122"/>
                <a:cs typeface="微软雅黑" pitchFamily="34" charset="-120"/>
              </a:rPr>
              <a:t>Sales Volume &amp; Stability Analysis</a:t>
            </a:r>
            <a:endParaRPr lang="en-US" sz="3900" dirty="0"/>
          </a:p>
        </p:txBody>
      </p:sp>
      <p:sp>
        <p:nvSpPr>
          <p:cNvPr id="4" name="Text 2"/>
          <p:cNvSpPr/>
          <p:nvPr/>
        </p:nvSpPr>
        <p:spPr>
          <a:xfrm>
            <a:off x="793790" y="3241596"/>
            <a:ext cx="13042821" cy="317540"/>
          </a:xfrm>
          <a:prstGeom prst="rect">
            <a:avLst/>
          </a:prstGeom>
          <a:noFill/>
        </p:spPr>
        <p:txBody>
          <a:bodyPr wrap="none" lIns="0" tIns="0" rIns="0" bIns="0" rtlCol="0" anchor="t"/>
          <a:lstStyle/>
          <a:p>
            <a:pPr marL="0" indent="0" algn="l">
              <a:lnSpc>
                <a:spcPts val="2500"/>
              </a:lnSpc>
              <a:buNone/>
            </a:pPr>
            <a:r>
              <a:rPr lang="en-US" sz="1550" dirty="0">
                <a:solidFill>
                  <a:srgbClr val="404155"/>
                </a:solidFill>
                <a:latin typeface="微软雅黑" pitchFamily="34" charset="0"/>
                <a:ea typeface="微软雅黑" pitchFamily="34" charset="-122"/>
                <a:cs typeface="微软雅黑" pitchFamily="34" charset="-120"/>
              </a:rPr>
              <a:t>Beyond forecasting, we analyze which product categories drive the most revenue and which exhibit volatile, unpredictable demand patterns.</a:t>
            </a:r>
            <a:endParaRPr lang="en-US" sz="1550" dirty="0"/>
          </a:p>
        </p:txBody>
      </p:sp>
      <p:sp>
        <p:nvSpPr>
          <p:cNvPr id="5" name="Text 3"/>
          <p:cNvSpPr/>
          <p:nvPr/>
        </p:nvSpPr>
        <p:spPr>
          <a:xfrm>
            <a:off x="793790" y="3980736"/>
            <a:ext cx="2480905" cy="310158"/>
          </a:xfrm>
          <a:prstGeom prst="rect">
            <a:avLst/>
          </a:prstGeom>
          <a:noFill/>
        </p:spPr>
        <p:txBody>
          <a:bodyPr wrap="none" lIns="0" tIns="0" rIns="0" bIns="0" rtlCol="0" anchor="t"/>
          <a:lstStyle/>
          <a:p>
            <a:pPr marL="0" indent="0" algn="l">
              <a:lnSpc>
                <a:spcPts val="2400"/>
              </a:lnSpc>
              <a:buNone/>
            </a:pPr>
            <a:r>
              <a:rPr lang="en-US" sz="1950" dirty="0">
                <a:solidFill>
                  <a:srgbClr val="1B1B27"/>
                </a:solidFill>
                <a:latin typeface="微软雅黑" pitchFamily="34" charset="0"/>
                <a:ea typeface="微软雅黑" pitchFamily="34" charset="-122"/>
                <a:cs typeface="微软雅黑" pitchFamily="34" charset="-120"/>
              </a:rPr>
              <a:t>Volume Analysis</a:t>
            </a:r>
            <a:endParaRPr lang="en-US" sz="1950" dirty="0"/>
          </a:p>
        </p:txBody>
      </p:sp>
      <p:sp>
        <p:nvSpPr>
          <p:cNvPr id="6" name="Text 4"/>
          <p:cNvSpPr/>
          <p:nvPr/>
        </p:nvSpPr>
        <p:spPr>
          <a:xfrm>
            <a:off x="793790" y="4489252"/>
            <a:ext cx="6279356" cy="317540"/>
          </a:xfrm>
          <a:prstGeom prst="rect">
            <a:avLst/>
          </a:prstGeom>
          <a:noFill/>
        </p:spPr>
        <p:txBody>
          <a:bodyPr wrap="none" lIns="0" tIns="0" rIns="0" bIns="0" rtlCol="0" anchor="t"/>
          <a:lstStyle/>
          <a:p>
            <a:pPr marL="0" indent="0" algn="l">
              <a:lnSpc>
                <a:spcPts val="2500"/>
              </a:lnSpc>
              <a:buNone/>
            </a:pPr>
            <a:r>
              <a:rPr lang="en-US" sz="1550" b="1" dirty="0">
                <a:solidFill>
                  <a:srgbClr val="404155"/>
                </a:solidFill>
                <a:latin typeface="微软雅黑" pitchFamily="34" charset="0"/>
                <a:ea typeface="微软雅黑" pitchFamily="34" charset="-122"/>
                <a:cs typeface="微软雅黑" pitchFamily="34" charset="-120"/>
              </a:rPr>
              <a:t>Question:</a:t>
            </a:r>
            <a:r>
              <a:rPr lang="en-US" sz="1550" dirty="0">
                <a:solidFill>
                  <a:srgbClr val="404155"/>
                </a:solidFill>
                <a:latin typeface="微软雅黑" pitchFamily="34" charset="0"/>
                <a:ea typeface="微软雅黑" pitchFamily="34" charset="-122"/>
                <a:cs typeface="微软雅黑" pitchFamily="34" charset="-120"/>
              </a:rPr>
              <a:t> Which categories sell the most units?</a:t>
            </a:r>
            <a:endParaRPr lang="en-US" sz="1550" dirty="0"/>
          </a:p>
        </p:txBody>
      </p:sp>
      <p:sp>
        <p:nvSpPr>
          <p:cNvPr id="7" name="Text 5"/>
          <p:cNvSpPr/>
          <p:nvPr/>
        </p:nvSpPr>
        <p:spPr>
          <a:xfrm>
            <a:off x="793790" y="4985385"/>
            <a:ext cx="6279356" cy="317540"/>
          </a:xfrm>
          <a:prstGeom prst="rect">
            <a:avLst/>
          </a:prstGeom>
          <a:noFill/>
        </p:spPr>
        <p:txBody>
          <a:bodyPr wrap="none" lIns="0" tIns="0" rIns="0" bIns="0" rtlCol="0" anchor="t"/>
          <a:lstStyle/>
          <a:p>
            <a:pPr marL="0" indent="0" algn="l">
              <a:lnSpc>
                <a:spcPts val="2500"/>
              </a:lnSpc>
              <a:buNone/>
            </a:pPr>
            <a:r>
              <a:rPr lang="en-US" sz="1550" b="1" dirty="0">
                <a:solidFill>
                  <a:srgbClr val="404155"/>
                </a:solidFill>
                <a:latin typeface="微软雅黑" pitchFamily="34" charset="0"/>
                <a:ea typeface="微软雅黑" pitchFamily="34" charset="-122"/>
                <a:cs typeface="微软雅黑" pitchFamily="34" charset="-120"/>
              </a:rPr>
              <a:t>Metric:</a:t>
            </a:r>
            <a:r>
              <a:rPr lang="en-US" sz="1550" dirty="0">
                <a:solidFill>
                  <a:srgbClr val="404155"/>
                </a:solidFill>
                <a:latin typeface="微软雅黑" pitchFamily="34" charset="0"/>
                <a:ea typeface="微软雅黑" pitchFamily="34" charset="-122"/>
                <a:cs typeface="微软雅黑" pitchFamily="34" charset="-120"/>
              </a:rPr>
              <a:t> Total quantity sold across all time periods</a:t>
            </a:r>
            <a:endParaRPr lang="en-US" sz="1550" dirty="0"/>
          </a:p>
        </p:txBody>
      </p:sp>
      <p:sp>
        <p:nvSpPr>
          <p:cNvPr id="8" name="Text 6"/>
          <p:cNvSpPr/>
          <p:nvPr/>
        </p:nvSpPr>
        <p:spPr>
          <a:xfrm>
            <a:off x="793790" y="5481518"/>
            <a:ext cx="6279356" cy="635079"/>
          </a:xfrm>
          <a:prstGeom prst="rect">
            <a:avLst/>
          </a:prstGeom>
          <a:noFill/>
        </p:spPr>
        <p:txBody>
          <a:bodyPr wrap="square" lIns="0" tIns="0" rIns="0" bIns="0" rtlCol="0" anchor="t"/>
          <a:lstStyle/>
          <a:p>
            <a:pPr marL="0" indent="0" algn="l">
              <a:lnSpc>
                <a:spcPts val="2500"/>
              </a:lnSpc>
              <a:buNone/>
            </a:pPr>
            <a:r>
              <a:rPr lang="en-US" sz="1550" b="1" dirty="0">
                <a:solidFill>
                  <a:srgbClr val="404155"/>
                </a:solidFill>
                <a:latin typeface="微软雅黑" pitchFamily="34" charset="0"/>
                <a:ea typeface="微软雅黑" pitchFamily="34" charset="-122"/>
                <a:cs typeface="微软雅黑" pitchFamily="34" charset="-120"/>
              </a:rPr>
              <a:t>Business value:</a:t>
            </a:r>
            <a:r>
              <a:rPr lang="en-US" sz="1550" dirty="0">
                <a:solidFill>
                  <a:srgbClr val="404155"/>
                </a:solidFill>
                <a:latin typeface="微软雅黑" pitchFamily="34" charset="0"/>
                <a:ea typeface="微软雅黑" pitchFamily="34" charset="-122"/>
                <a:cs typeface="微软雅黑" pitchFamily="34" charset="-120"/>
              </a:rPr>
              <a:t> Identifies core revenue drivers deserving supply chain priority</a:t>
            </a:r>
            <a:endParaRPr lang="en-US" sz="1550" dirty="0"/>
          </a:p>
        </p:txBody>
      </p:sp>
      <p:sp>
        <p:nvSpPr>
          <p:cNvPr id="9" name="Text 7"/>
          <p:cNvSpPr/>
          <p:nvPr/>
        </p:nvSpPr>
        <p:spPr>
          <a:xfrm>
            <a:off x="7564874" y="3980736"/>
            <a:ext cx="2480905" cy="310158"/>
          </a:xfrm>
          <a:prstGeom prst="rect">
            <a:avLst/>
          </a:prstGeom>
          <a:noFill/>
        </p:spPr>
        <p:txBody>
          <a:bodyPr wrap="none" lIns="0" tIns="0" rIns="0" bIns="0" rtlCol="0" anchor="t"/>
          <a:lstStyle/>
          <a:p>
            <a:pPr marL="0" indent="0" algn="l">
              <a:lnSpc>
                <a:spcPts val="2400"/>
              </a:lnSpc>
              <a:buNone/>
            </a:pPr>
            <a:r>
              <a:rPr lang="en-US" sz="1950" dirty="0">
                <a:solidFill>
                  <a:srgbClr val="1B1B27"/>
                </a:solidFill>
                <a:latin typeface="微软雅黑" pitchFamily="34" charset="0"/>
                <a:ea typeface="微软雅黑" pitchFamily="34" charset="-122"/>
                <a:cs typeface="微软雅黑" pitchFamily="34" charset="-120"/>
              </a:rPr>
              <a:t>Stability Analysis</a:t>
            </a:r>
            <a:endParaRPr lang="en-US" sz="1950" dirty="0"/>
          </a:p>
        </p:txBody>
      </p:sp>
      <p:sp>
        <p:nvSpPr>
          <p:cNvPr id="10" name="Text 8"/>
          <p:cNvSpPr/>
          <p:nvPr/>
        </p:nvSpPr>
        <p:spPr>
          <a:xfrm>
            <a:off x="7564874" y="4489252"/>
            <a:ext cx="6279356" cy="317540"/>
          </a:xfrm>
          <a:prstGeom prst="rect">
            <a:avLst/>
          </a:prstGeom>
          <a:noFill/>
        </p:spPr>
        <p:txBody>
          <a:bodyPr wrap="none" lIns="0" tIns="0" rIns="0" bIns="0" rtlCol="0" anchor="t"/>
          <a:lstStyle/>
          <a:p>
            <a:pPr marL="0" indent="0" algn="l">
              <a:lnSpc>
                <a:spcPts val="2500"/>
              </a:lnSpc>
              <a:buNone/>
            </a:pPr>
            <a:r>
              <a:rPr lang="en-US" sz="1550" b="1" dirty="0">
                <a:solidFill>
                  <a:srgbClr val="404155"/>
                </a:solidFill>
                <a:latin typeface="微软雅黑" pitchFamily="34" charset="0"/>
                <a:ea typeface="微软雅黑" pitchFamily="34" charset="-122"/>
                <a:cs typeface="微软雅黑" pitchFamily="34" charset="-120"/>
              </a:rPr>
              <a:t>Question:</a:t>
            </a:r>
            <a:r>
              <a:rPr lang="en-US" sz="1550" dirty="0">
                <a:solidFill>
                  <a:srgbClr val="404155"/>
                </a:solidFill>
                <a:latin typeface="微软雅黑" pitchFamily="34" charset="0"/>
                <a:ea typeface="微软雅黑" pitchFamily="34" charset="-122"/>
                <a:cs typeface="微软雅黑" pitchFamily="34" charset="-120"/>
              </a:rPr>
              <a:t> Which categories have unpredictable demand?</a:t>
            </a:r>
            <a:endParaRPr lang="en-US" sz="1550" dirty="0"/>
          </a:p>
        </p:txBody>
      </p:sp>
      <p:sp>
        <p:nvSpPr>
          <p:cNvPr id="11" name="Text 9"/>
          <p:cNvSpPr/>
          <p:nvPr/>
        </p:nvSpPr>
        <p:spPr>
          <a:xfrm>
            <a:off x="7564874" y="4985385"/>
            <a:ext cx="6279356" cy="317540"/>
          </a:xfrm>
          <a:prstGeom prst="rect">
            <a:avLst/>
          </a:prstGeom>
          <a:noFill/>
        </p:spPr>
        <p:txBody>
          <a:bodyPr wrap="none" lIns="0" tIns="0" rIns="0" bIns="0" rtlCol="0" anchor="t"/>
          <a:lstStyle/>
          <a:p>
            <a:pPr marL="0" indent="0" algn="l">
              <a:lnSpc>
                <a:spcPts val="2500"/>
              </a:lnSpc>
              <a:buNone/>
            </a:pPr>
            <a:r>
              <a:rPr lang="en-US" sz="1550" b="1" dirty="0">
                <a:solidFill>
                  <a:srgbClr val="404155"/>
                </a:solidFill>
                <a:latin typeface="微软雅黑" pitchFamily="34" charset="0"/>
                <a:ea typeface="微软雅黑" pitchFamily="34" charset="-122"/>
                <a:cs typeface="微软雅黑" pitchFamily="34" charset="-120"/>
              </a:rPr>
              <a:t>Metric:</a:t>
            </a:r>
            <a:r>
              <a:rPr lang="en-US" sz="1550" dirty="0">
                <a:solidFill>
                  <a:srgbClr val="404155"/>
                </a:solidFill>
                <a:latin typeface="微软雅黑" pitchFamily="34" charset="0"/>
                <a:ea typeface="微软雅黑" pitchFamily="34" charset="-122"/>
                <a:cs typeface="微软雅黑" pitchFamily="34" charset="-120"/>
              </a:rPr>
              <a:t> Coefficient of Variation (CV = SD / Mean)</a:t>
            </a:r>
            <a:endParaRPr lang="en-US" sz="1550" dirty="0"/>
          </a:p>
        </p:txBody>
      </p:sp>
      <p:sp>
        <p:nvSpPr>
          <p:cNvPr id="12" name="Text 10"/>
          <p:cNvSpPr/>
          <p:nvPr/>
        </p:nvSpPr>
        <p:spPr>
          <a:xfrm>
            <a:off x="7564874" y="5481518"/>
            <a:ext cx="6279356" cy="635079"/>
          </a:xfrm>
          <a:prstGeom prst="rect">
            <a:avLst/>
          </a:prstGeom>
          <a:noFill/>
        </p:spPr>
        <p:txBody>
          <a:bodyPr wrap="square" lIns="0" tIns="0" rIns="0" bIns="0" rtlCol="0" anchor="t"/>
          <a:lstStyle/>
          <a:p>
            <a:pPr marL="0" indent="0" algn="l">
              <a:lnSpc>
                <a:spcPts val="2500"/>
              </a:lnSpc>
              <a:buNone/>
            </a:pPr>
            <a:r>
              <a:rPr lang="en-US" sz="1550" b="1" dirty="0">
                <a:solidFill>
                  <a:srgbClr val="404155"/>
                </a:solidFill>
                <a:latin typeface="微软雅黑" pitchFamily="34" charset="0"/>
                <a:ea typeface="微软雅黑" pitchFamily="34" charset="-122"/>
                <a:cs typeface="微软雅黑" pitchFamily="34" charset="-120"/>
              </a:rPr>
              <a:t>Business value:</a:t>
            </a:r>
            <a:r>
              <a:rPr lang="en-US" sz="1550" dirty="0">
                <a:solidFill>
                  <a:srgbClr val="404155"/>
                </a:solidFill>
                <a:latin typeface="微软雅黑" pitchFamily="34" charset="0"/>
                <a:ea typeface="微软雅黑" pitchFamily="34" charset="-122"/>
                <a:cs typeface="微软雅黑" pitchFamily="34" charset="-120"/>
              </a:rPr>
              <a:t> High CV signals need for flexible inventory and contingency planning</a:t>
            </a:r>
            <a:endParaRPr lang="en-US" sz="15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1123117"/>
            <a:ext cx="8353187" cy="620078"/>
          </a:xfrm>
          <a:prstGeom prst="rect">
            <a:avLst/>
          </a:prstGeom>
          <a:noFill/>
        </p:spPr>
        <p:txBody>
          <a:bodyPr wrap="none" lIns="0" tIns="0" rIns="0" bIns="0" rtlCol="0" anchor="t"/>
          <a:lstStyle/>
          <a:p>
            <a:pPr marL="0" indent="0" algn="l">
              <a:lnSpc>
                <a:spcPts val="4850"/>
              </a:lnSpc>
              <a:buNone/>
            </a:pPr>
            <a:r>
              <a:rPr lang="en-US" sz="3900" dirty="0">
                <a:solidFill>
                  <a:srgbClr val="1B1B27"/>
                </a:solidFill>
                <a:latin typeface="微软雅黑" pitchFamily="34" charset="0"/>
                <a:ea typeface="微软雅黑" pitchFamily="34" charset="-122"/>
                <a:cs typeface="微软雅黑" pitchFamily="34" charset="-120"/>
              </a:rPr>
              <a:t>Calculating Volume &amp; Stability Metrics</a:t>
            </a:r>
            <a:endParaRPr lang="en-US" sz="3900" dirty="0"/>
          </a:p>
        </p:txBody>
      </p:sp>
      <p:sp>
        <p:nvSpPr>
          <p:cNvPr id="3" name="Shape 1"/>
          <p:cNvSpPr/>
          <p:nvPr/>
        </p:nvSpPr>
        <p:spPr>
          <a:xfrm>
            <a:off x="793790" y="2140029"/>
            <a:ext cx="13042821" cy="4108133"/>
          </a:xfrm>
          <a:prstGeom prst="roundRect">
            <a:avLst>
              <a:gd name="adj" fmla="val 2029"/>
            </a:avLst>
          </a:prstGeom>
          <a:solidFill>
            <a:srgbClr val="ECECF2"/>
          </a:solidFill>
        </p:spPr>
      </p:sp>
      <p:sp>
        <p:nvSpPr>
          <p:cNvPr id="4" name="Shape 2"/>
          <p:cNvSpPr/>
          <p:nvPr/>
        </p:nvSpPr>
        <p:spPr>
          <a:xfrm>
            <a:off x="783908" y="2140029"/>
            <a:ext cx="13062585" cy="4108133"/>
          </a:xfrm>
          <a:prstGeom prst="roundRect">
            <a:avLst>
              <a:gd name="adj" fmla="val 725"/>
            </a:avLst>
          </a:prstGeom>
          <a:solidFill>
            <a:srgbClr val="ECECF2"/>
          </a:solidFill>
        </p:spPr>
      </p:sp>
      <p:sp>
        <p:nvSpPr>
          <p:cNvPr id="5" name="Text 3"/>
          <p:cNvSpPr/>
          <p:nvPr/>
        </p:nvSpPr>
        <p:spPr>
          <a:xfrm>
            <a:off x="982266" y="2288858"/>
            <a:ext cx="12665869" cy="3810476"/>
          </a:xfrm>
          <a:prstGeom prst="rect">
            <a:avLst/>
          </a:prstGeom>
          <a:noFill/>
        </p:spPr>
        <p:txBody>
          <a:bodyPr wrap="square" lIns="0" tIns="0" rIns="0" bIns="0" rtlCol="0" anchor="t"/>
          <a:lstStyle/>
          <a:p>
            <a:pPr marL="0" indent="0" algn="l">
              <a:lnSpc>
                <a:spcPts val="2500"/>
              </a:lnSpc>
              <a:buNone/>
            </a:pPr>
            <a:r>
              <a:rPr lang="en-US" sz="1550" dirty="0">
                <a:solidFill>
                  <a:srgbClr val="404155"/>
                </a:solidFill>
                <a:highlight>
                  <a:srgbClr val="ECECF2"/>
                </a:highlight>
                <a:latin typeface="Consolas" pitchFamily="34" charset="0"/>
                <a:ea typeface="Consolas" pitchFamily="34" charset="-122"/>
                <a:cs typeface="Consolas" pitchFamily="34" charset="-120"/>
              </a:rPr>
              <a:t>monthly_stats &lt;- df_final %&gt;%
  mutate(Month = floor_date(orderdate, "month")) %&gt;%
  group_by(productcategory, Month) %&gt;%
  summarise(MonthlyUnits = sum(quantitysold, na.rm = TRUE)) %&gt;%
  group_by(productcategory) %&gt;%
  summarise(
    Total_Sold = sum(MonthlyUnits),
    Avg_Monthly_Sold = mean(MonthlyUnits),
    SD_Monthly_Sold = sd(MonthlyUnits)
  ) %&gt;%
  mutate(Stability_CV = SD_Monthly_Sold / Avg_Monthly_Sold)
</a:t>
            </a:r>
            <a:endParaRPr lang="en-US" sz="1550" dirty="0"/>
          </a:p>
        </p:txBody>
      </p:sp>
      <p:sp>
        <p:nvSpPr>
          <p:cNvPr id="6" name="Text 4"/>
          <p:cNvSpPr/>
          <p:nvPr/>
        </p:nvSpPr>
        <p:spPr>
          <a:xfrm>
            <a:off x="793790" y="6471404"/>
            <a:ext cx="13042821" cy="635079"/>
          </a:xfrm>
          <a:prstGeom prst="rect">
            <a:avLst/>
          </a:prstGeom>
          <a:noFill/>
        </p:spPr>
        <p:txBody>
          <a:bodyPr wrap="square" lIns="0" tIns="0" rIns="0" bIns="0" rtlCol="0" anchor="t"/>
          <a:lstStyle/>
          <a:p>
            <a:pPr marL="0" indent="0" algn="l">
              <a:lnSpc>
                <a:spcPts val="2500"/>
              </a:lnSpc>
              <a:buNone/>
            </a:pPr>
            <a:r>
              <a:rPr lang="en-US" sz="1550" dirty="0">
                <a:solidFill>
                  <a:srgbClr val="404155"/>
                </a:solidFill>
                <a:latin typeface="微软雅黑" pitchFamily="34" charset="0"/>
                <a:ea typeface="微软雅黑" pitchFamily="34" charset="-122"/>
                <a:cs typeface="微软雅黑" pitchFamily="34" charset="-120"/>
              </a:rPr>
              <a:t>We calculate monthly sales per category, then aggregate to get total volume, average monthly sales, and standard deviation. The Coefficient of Variation normalizes volatility, making it comparable across categories with different sales volumes.</a:t>
            </a:r>
            <a:endParaRPr lang="en-US" sz="15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642938"/>
            <a:ext cx="6656189" cy="620078"/>
          </a:xfrm>
          <a:prstGeom prst="rect">
            <a:avLst/>
          </a:prstGeom>
          <a:noFill/>
        </p:spPr>
        <p:txBody>
          <a:bodyPr wrap="none" lIns="0" tIns="0" rIns="0" bIns="0" rtlCol="0" anchor="t"/>
          <a:lstStyle/>
          <a:p>
            <a:pPr marL="0" indent="0" algn="l">
              <a:lnSpc>
                <a:spcPts val="4850"/>
              </a:lnSpc>
              <a:buNone/>
            </a:pPr>
            <a:r>
              <a:rPr lang="en-US" sz="3900" dirty="0">
                <a:solidFill>
                  <a:srgbClr val="1B1B27"/>
                </a:solidFill>
                <a:latin typeface="微软雅黑" pitchFamily="34" charset="0"/>
                <a:ea typeface="微软雅黑" pitchFamily="34" charset="-122"/>
                <a:cs typeface="微软雅黑" pitchFamily="34" charset="-120"/>
              </a:rPr>
              <a:t>Visualizing Total Sales Ranking</a:t>
            </a:r>
            <a:endParaRPr lang="en-US" sz="3900" dirty="0"/>
          </a:p>
        </p:txBody>
      </p:sp>
      <p:sp>
        <p:nvSpPr>
          <p:cNvPr id="3" name="Shape 1"/>
          <p:cNvSpPr/>
          <p:nvPr/>
        </p:nvSpPr>
        <p:spPr>
          <a:xfrm>
            <a:off x="793790" y="1659850"/>
            <a:ext cx="13042821" cy="5060752"/>
          </a:xfrm>
          <a:prstGeom prst="roundRect">
            <a:avLst>
              <a:gd name="adj" fmla="val 1647"/>
            </a:avLst>
          </a:prstGeom>
          <a:solidFill>
            <a:srgbClr val="ECECF2"/>
          </a:solidFill>
        </p:spPr>
      </p:sp>
      <p:sp>
        <p:nvSpPr>
          <p:cNvPr id="4" name="Shape 2"/>
          <p:cNvSpPr/>
          <p:nvPr/>
        </p:nvSpPr>
        <p:spPr>
          <a:xfrm>
            <a:off x="783908" y="1659850"/>
            <a:ext cx="13062585" cy="5060752"/>
          </a:xfrm>
          <a:prstGeom prst="roundRect">
            <a:avLst>
              <a:gd name="adj" fmla="val 588"/>
            </a:avLst>
          </a:prstGeom>
          <a:solidFill>
            <a:srgbClr val="ECECF2"/>
          </a:solidFill>
        </p:spPr>
      </p:sp>
      <p:sp>
        <p:nvSpPr>
          <p:cNvPr id="5" name="Text 3"/>
          <p:cNvSpPr/>
          <p:nvPr/>
        </p:nvSpPr>
        <p:spPr>
          <a:xfrm>
            <a:off x="982266" y="1808678"/>
            <a:ext cx="12665869" cy="4763095"/>
          </a:xfrm>
          <a:prstGeom prst="rect">
            <a:avLst/>
          </a:prstGeom>
          <a:noFill/>
        </p:spPr>
        <p:txBody>
          <a:bodyPr wrap="square" lIns="0" tIns="0" rIns="0" bIns="0" rtlCol="0" anchor="t"/>
          <a:lstStyle/>
          <a:p>
            <a:pPr marL="0" indent="0" algn="l">
              <a:lnSpc>
                <a:spcPts val="2500"/>
              </a:lnSpc>
              <a:buNone/>
            </a:pPr>
            <a:r>
              <a:rPr lang="en-US" sz="1550" dirty="0">
                <a:solidFill>
                  <a:srgbClr val="404155"/>
                </a:solidFill>
                <a:highlight>
                  <a:srgbClr val="ECECF2"/>
                </a:highlight>
                <a:latin typeface="Consolas" pitchFamily="34" charset="0"/>
                <a:ea typeface="Consolas" pitchFamily="34" charset="-122"/>
                <a:cs typeface="Consolas" pitchFamily="34" charset="-120"/>
              </a:rPr>
              <a:t>p1 &lt;- ggplot(monthly_stats, 
             aes(x = reorder(productcategory, -Total_Sold), 
                 y = Total_Sold, 
                 fill = productcategory)) +
  geom_col(show.legend = FALSE) +
  geom_text(aes(label = Total_Sold), vjust = -0.5, size = 3) +
  labs(
    title = "Total Sales Ranking by Product Category",
    subtitle = "Which category sells the most?",
    x = "Product Category",
    y = "Total Units Sold"
  ) +
  theme_minimal() +
  theme(axis.text.x = element_text(angle = 45, hjust = 1))
</a:t>
            </a:r>
            <a:endParaRPr lang="en-US" sz="1550" dirty="0"/>
          </a:p>
        </p:txBody>
      </p:sp>
      <p:sp>
        <p:nvSpPr>
          <p:cNvPr id="6" name="Text 4"/>
          <p:cNvSpPr/>
          <p:nvPr/>
        </p:nvSpPr>
        <p:spPr>
          <a:xfrm>
            <a:off x="793790" y="6943844"/>
            <a:ext cx="13042821" cy="642699"/>
          </a:xfrm>
          <a:prstGeom prst="rect">
            <a:avLst/>
          </a:prstGeom>
          <a:noFill/>
        </p:spPr>
        <p:txBody>
          <a:bodyPr wrap="square" lIns="0" tIns="0" rIns="0" bIns="0" rtlCol="0" anchor="t"/>
          <a:lstStyle/>
          <a:p>
            <a:pPr marL="0" indent="0" algn="l">
              <a:lnSpc>
                <a:spcPts val="2500"/>
              </a:lnSpc>
              <a:buNone/>
            </a:pPr>
            <a:r>
              <a:rPr lang="en-US" sz="1550" dirty="0">
                <a:solidFill>
                  <a:srgbClr val="404155"/>
                </a:solidFill>
                <a:latin typeface="微软雅黑" pitchFamily="34" charset="0"/>
                <a:ea typeface="微软雅黑" pitchFamily="34" charset="-122"/>
                <a:cs typeface="微软雅黑" pitchFamily="34" charset="-120"/>
              </a:rPr>
              <a:t>The bar chart ranks categories from highest to lowest total sales. The </a:t>
            </a:r>
            <a:r>
              <a:rPr lang="en-US" sz="1550" dirty="0">
                <a:solidFill>
                  <a:srgbClr val="404155"/>
                </a:solidFill>
                <a:highlight>
                  <a:srgbClr val="ECECF2"/>
                </a:highlight>
                <a:latin typeface="Consolas" pitchFamily="34" charset="0"/>
                <a:ea typeface="Consolas" pitchFamily="34" charset="-122"/>
                <a:cs typeface="Consolas" pitchFamily="34" charset="-120"/>
              </a:rPr>
              <a:t>reorder()</a:t>
            </a:r>
            <a:r>
              <a:rPr lang="en-US" sz="1550" dirty="0">
                <a:solidFill>
                  <a:srgbClr val="404155"/>
                </a:solidFill>
                <a:latin typeface="微软雅黑" pitchFamily="34" charset="0"/>
                <a:ea typeface="微软雅黑" pitchFamily="34" charset="-122"/>
                <a:cs typeface="微软雅黑" pitchFamily="34" charset="-120"/>
              </a:rPr>
              <a:t> function sorts categories by descending sales, and </a:t>
            </a:r>
            <a:r>
              <a:rPr lang="en-US" sz="1550" dirty="0">
                <a:solidFill>
                  <a:srgbClr val="404155"/>
                </a:solidFill>
                <a:highlight>
                  <a:srgbClr val="ECECF2"/>
                </a:highlight>
                <a:latin typeface="Consolas" pitchFamily="34" charset="0"/>
                <a:ea typeface="Consolas" pitchFamily="34" charset="-122"/>
                <a:cs typeface="Consolas" pitchFamily="34" charset="-120"/>
              </a:rPr>
              <a:t>geom_text()</a:t>
            </a:r>
            <a:r>
              <a:rPr lang="en-US" sz="1550" dirty="0">
                <a:solidFill>
                  <a:srgbClr val="404155"/>
                </a:solidFill>
                <a:latin typeface="微软雅黑" pitchFamily="34" charset="0"/>
                <a:ea typeface="微软雅黑" pitchFamily="34" charset="-122"/>
                <a:cs typeface="微软雅黑" pitchFamily="34" charset="-120"/>
              </a:rPr>
              <a:t> adds exact values on top of each bar for precise comparison.</a:t>
            </a:r>
            <a:endParaRPr lang="en-US" sz="15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1276985" y="0"/>
            <a:ext cx="12075795" cy="8229600"/>
          </a:xfrm>
          <a:prstGeom prst="rect">
            <a:avLst/>
          </a:prstGeom>
        </p:spPr>
      </p:pic>
      <p:pic>
        <p:nvPicPr>
          <p:cNvPr id="3" name="图片 2"/>
          <p:cNvPicPr>
            <a:picLocks noChangeAspect="1"/>
          </p:cNvPicPr>
          <p:nvPr/>
        </p:nvPicPr>
        <p:blipFill>
          <a:blip r:embed="rId1"/>
          <a:stretch>
            <a:fillRect/>
          </a:stretch>
        </p:blipFill>
        <p:spPr>
          <a:xfrm>
            <a:off x="1166495" y="0"/>
            <a:ext cx="12075795" cy="82296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805577"/>
            <a:ext cx="8868489" cy="620078"/>
          </a:xfrm>
          <a:prstGeom prst="rect">
            <a:avLst/>
          </a:prstGeom>
          <a:noFill/>
        </p:spPr>
        <p:txBody>
          <a:bodyPr wrap="none" lIns="0" tIns="0" rIns="0" bIns="0" rtlCol="0" anchor="t"/>
          <a:lstStyle/>
          <a:p>
            <a:pPr marL="0" indent="0" algn="l">
              <a:lnSpc>
                <a:spcPts val="4850"/>
              </a:lnSpc>
              <a:buNone/>
            </a:pPr>
            <a:r>
              <a:rPr lang="en-US" sz="3900" dirty="0">
                <a:solidFill>
                  <a:srgbClr val="1B1B27"/>
                </a:solidFill>
                <a:latin typeface="微软雅黑" pitchFamily="34" charset="0"/>
                <a:ea typeface="微软雅黑" pitchFamily="34" charset="-122"/>
                <a:cs typeface="微软雅黑" pitchFamily="34" charset="-120"/>
              </a:rPr>
              <a:t>Stability Visualization: The Lollipop Chart</a:t>
            </a:r>
            <a:endParaRPr lang="en-US" sz="3900" dirty="0"/>
          </a:p>
        </p:txBody>
      </p:sp>
      <p:sp>
        <p:nvSpPr>
          <p:cNvPr id="3" name="Shape 1"/>
          <p:cNvSpPr/>
          <p:nvPr/>
        </p:nvSpPr>
        <p:spPr>
          <a:xfrm>
            <a:off x="793790" y="1822490"/>
            <a:ext cx="13042821" cy="5060752"/>
          </a:xfrm>
          <a:prstGeom prst="roundRect">
            <a:avLst>
              <a:gd name="adj" fmla="val 1647"/>
            </a:avLst>
          </a:prstGeom>
          <a:solidFill>
            <a:srgbClr val="ECECF2"/>
          </a:solidFill>
        </p:spPr>
      </p:sp>
      <p:sp>
        <p:nvSpPr>
          <p:cNvPr id="4" name="Shape 2"/>
          <p:cNvSpPr/>
          <p:nvPr/>
        </p:nvSpPr>
        <p:spPr>
          <a:xfrm>
            <a:off x="783908" y="1822490"/>
            <a:ext cx="13062585" cy="5060752"/>
          </a:xfrm>
          <a:prstGeom prst="roundRect">
            <a:avLst>
              <a:gd name="adj" fmla="val 588"/>
            </a:avLst>
          </a:prstGeom>
          <a:solidFill>
            <a:srgbClr val="ECECF2"/>
          </a:solidFill>
        </p:spPr>
      </p:sp>
      <p:sp>
        <p:nvSpPr>
          <p:cNvPr id="5" name="Text 3"/>
          <p:cNvSpPr/>
          <p:nvPr/>
        </p:nvSpPr>
        <p:spPr>
          <a:xfrm>
            <a:off x="982266" y="1971318"/>
            <a:ext cx="12665869" cy="4763095"/>
          </a:xfrm>
          <a:prstGeom prst="rect">
            <a:avLst/>
          </a:prstGeom>
          <a:noFill/>
        </p:spPr>
        <p:txBody>
          <a:bodyPr wrap="square" lIns="0" tIns="0" rIns="0" bIns="0" rtlCol="0" anchor="t"/>
          <a:lstStyle/>
          <a:p>
            <a:pPr marL="0" indent="0" algn="l">
              <a:lnSpc>
                <a:spcPts val="2500"/>
              </a:lnSpc>
              <a:buNone/>
            </a:pPr>
            <a:r>
              <a:rPr lang="en-US" sz="1550" dirty="0">
                <a:solidFill>
                  <a:srgbClr val="404155"/>
                </a:solidFill>
                <a:highlight>
                  <a:srgbClr val="ECECF2"/>
                </a:highlight>
                <a:latin typeface="Consolas" pitchFamily="34" charset="0"/>
                <a:ea typeface="Consolas" pitchFamily="34" charset="-122"/>
                <a:cs typeface="Consolas" pitchFamily="34" charset="-120"/>
              </a:rPr>
              <a:t>p2 &lt;- ggplot(monthly_stats, 
             aes(x = reorder(productcategory, Stability_CV), 
                 y = Stability_CV)) +
  geom_segment(aes(xend = productcategory, y = 0, yend = Stability_CV), 
               color = "gray") +
  geom_point(aes(color = Stability_CV), size = 4) +
  scale_color_gradient(low = "green", high = "red") +
  labs(
    title = "Sales Stability Analysis by Category",
    subtitle = "Higher CV indicates larger monthly fluctuations",
    x = "Product Category",
    y = "Instability (CV Value)"
  ) +
  theme_minimal()
</a:t>
            </a:r>
            <a:endParaRPr lang="en-US" sz="1550" dirty="0"/>
          </a:p>
        </p:txBody>
      </p:sp>
      <p:sp>
        <p:nvSpPr>
          <p:cNvPr id="6" name="Text 4"/>
          <p:cNvSpPr/>
          <p:nvPr/>
        </p:nvSpPr>
        <p:spPr>
          <a:xfrm>
            <a:off x="793790" y="7106483"/>
            <a:ext cx="13042821" cy="317540"/>
          </a:xfrm>
          <a:prstGeom prst="rect">
            <a:avLst/>
          </a:prstGeom>
          <a:noFill/>
        </p:spPr>
        <p:txBody>
          <a:bodyPr wrap="none" lIns="0" tIns="0" rIns="0" bIns="0" rtlCol="0" anchor="t"/>
          <a:lstStyle/>
          <a:p>
            <a:pPr marL="0" indent="0" algn="l">
              <a:lnSpc>
                <a:spcPts val="2500"/>
              </a:lnSpc>
              <a:buNone/>
            </a:pPr>
            <a:r>
              <a:rPr lang="en-US" sz="1550" dirty="0">
                <a:solidFill>
                  <a:srgbClr val="404155"/>
                </a:solidFill>
                <a:latin typeface="微软雅黑" pitchFamily="34" charset="0"/>
                <a:ea typeface="微软雅黑" pitchFamily="34" charset="-122"/>
                <a:cs typeface="微软雅黑" pitchFamily="34" charset="-120"/>
              </a:rPr>
              <a:t>Higher dots indicate more volatile categories. The red-to-green gradient provides instant visual feedback on risk level.</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1098550" y="0"/>
            <a:ext cx="12432665" cy="82296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805577"/>
            <a:ext cx="6283166" cy="620078"/>
          </a:xfrm>
          <a:prstGeom prst="rect">
            <a:avLst/>
          </a:prstGeom>
          <a:noFill/>
        </p:spPr>
        <p:txBody>
          <a:bodyPr wrap="none" lIns="0" tIns="0" rIns="0" bIns="0" rtlCol="0" anchor="t"/>
          <a:lstStyle/>
          <a:p>
            <a:pPr marL="0" indent="0" algn="l">
              <a:lnSpc>
                <a:spcPts val="4850"/>
              </a:lnSpc>
              <a:buNone/>
            </a:pPr>
            <a:r>
              <a:rPr lang="en-US" sz="3900" dirty="0">
                <a:solidFill>
                  <a:srgbClr val="1B1B27"/>
                </a:solidFill>
                <a:latin typeface="微软雅黑" pitchFamily="34" charset="0"/>
                <a:ea typeface="微软雅黑" pitchFamily="34" charset="-122"/>
                <a:cs typeface="微软雅黑" pitchFamily="34" charset="-120"/>
              </a:rPr>
              <a:t>Automated Business Insights</a:t>
            </a:r>
            <a:endParaRPr lang="en-US" sz="3900" dirty="0"/>
          </a:p>
        </p:txBody>
      </p:sp>
      <p:sp>
        <p:nvSpPr>
          <p:cNvPr id="3" name="Shape 1"/>
          <p:cNvSpPr/>
          <p:nvPr/>
        </p:nvSpPr>
        <p:spPr>
          <a:xfrm>
            <a:off x="793750" y="1822450"/>
            <a:ext cx="13042900" cy="3796030"/>
          </a:xfrm>
          <a:prstGeom prst="roundRect">
            <a:avLst>
              <a:gd name="adj" fmla="val 1757"/>
            </a:avLst>
          </a:prstGeom>
          <a:solidFill>
            <a:srgbClr val="ECECF2"/>
          </a:solidFill>
        </p:spPr>
      </p:sp>
      <p:sp>
        <p:nvSpPr>
          <p:cNvPr id="4" name="Shape 2"/>
          <p:cNvSpPr/>
          <p:nvPr/>
        </p:nvSpPr>
        <p:spPr>
          <a:xfrm>
            <a:off x="802640" y="1822450"/>
            <a:ext cx="13044170" cy="3807460"/>
          </a:xfrm>
          <a:prstGeom prst="roundRect">
            <a:avLst>
              <a:gd name="adj" fmla="val 628"/>
            </a:avLst>
          </a:prstGeom>
          <a:solidFill>
            <a:srgbClr val="ECECF2"/>
          </a:solidFill>
        </p:spPr>
      </p:sp>
      <p:sp>
        <p:nvSpPr>
          <p:cNvPr id="5" name="Text 3"/>
          <p:cNvSpPr/>
          <p:nvPr/>
        </p:nvSpPr>
        <p:spPr>
          <a:xfrm>
            <a:off x="982345" y="1971040"/>
            <a:ext cx="12665710" cy="3646805"/>
          </a:xfrm>
          <a:prstGeom prst="rect">
            <a:avLst/>
          </a:prstGeom>
          <a:noFill/>
        </p:spPr>
        <p:txBody>
          <a:bodyPr wrap="square" lIns="0" tIns="0" rIns="0" bIns="0" rtlCol="0" anchor="t"/>
          <a:lstStyle/>
          <a:p>
            <a:pPr marL="0" indent="0" algn="l">
              <a:lnSpc>
                <a:spcPts val="2500"/>
              </a:lnSpc>
              <a:buNone/>
            </a:pPr>
            <a:r>
              <a:rPr lang="en-US" sz="1550" dirty="0">
                <a:solidFill>
                  <a:srgbClr val="404155"/>
                </a:solidFill>
                <a:highlight>
                  <a:srgbClr val="ECECF2"/>
                </a:highlight>
                <a:latin typeface="Consolas" pitchFamily="34" charset="0"/>
                <a:ea typeface="Consolas" pitchFamily="34" charset="-122"/>
                <a:cs typeface="Consolas" pitchFamily="34" charset="-120"/>
              </a:rPr>
              <a:t>top_seller &lt;- monthly_stats %&gt;% 
  arrange(desc(Total_Sold)) %&gt;% slice(1)
most_unstable &lt;- monthly_stats %&gt;% 
  arrange(desc(Stability_CV)) %&gt;% slice(1)
</a:t>
            </a:r>
            <a:r>
              <a:rPr lang="en-US" altLang="zh-CN" sz="1550" dirty="0">
                <a:solidFill>
                  <a:srgbClr val="404155"/>
                </a:solidFill>
                <a:highlight>
                  <a:srgbClr val="ECECF2"/>
                </a:highlight>
                <a:latin typeface="Consolas" pitchFamily="34" charset="0"/>
                <a:ea typeface="Consolas" pitchFamily="34" charset="-122"/>
                <a:cs typeface="Consolas" pitchFamily="34" charset="-120"/>
              </a:rPr>
              <a:t>cat(paste("1. Top Seller: [", top_seller$productcategory, "] with total sales of", top_seller$Total_Sold, "units.\n"))</a:t>
            </a:r>
            <a:endParaRPr lang="en-US" altLang="zh-CN" sz="1550" dirty="0">
              <a:solidFill>
                <a:srgbClr val="404155"/>
              </a:solidFill>
              <a:highlight>
                <a:srgbClr val="ECECF2"/>
              </a:highlight>
              <a:latin typeface="Consolas" pitchFamily="34" charset="0"/>
              <a:ea typeface="Consolas" pitchFamily="34" charset="-122"/>
              <a:cs typeface="Consolas" pitchFamily="34" charset="-120"/>
            </a:endParaRPr>
          </a:p>
          <a:p>
            <a:pPr marL="0" indent="0" algn="l">
              <a:lnSpc>
                <a:spcPts val="2500"/>
              </a:lnSpc>
              <a:buNone/>
            </a:pPr>
            <a:r>
              <a:rPr lang="en-US" altLang="zh-CN" sz="1550" dirty="0">
                <a:solidFill>
                  <a:srgbClr val="404155"/>
                </a:solidFill>
                <a:highlight>
                  <a:srgbClr val="ECECF2"/>
                </a:highlight>
                <a:latin typeface="Consolas" pitchFamily="34" charset="0"/>
                <a:ea typeface="Consolas" pitchFamily="34" charset="-122"/>
                <a:cs typeface="Consolas" pitchFamily="34" charset="-120"/>
              </a:rPr>
              <a:t>cat("   -&gt; Recommendation: This is a core revenue source. Prioritize supply chain to prevent stockouts.\n")</a:t>
            </a:r>
            <a:r>
              <a:rPr lang="en-US" sz="1550" dirty="0">
                <a:solidFill>
                  <a:srgbClr val="404155"/>
                </a:solidFill>
                <a:highlight>
                  <a:srgbClr val="ECECF2"/>
                </a:highlight>
                <a:latin typeface="Consolas" pitchFamily="34" charset="0"/>
                <a:ea typeface="Consolas" pitchFamily="34" charset="-122"/>
                <a:cs typeface="Consolas" pitchFamily="34" charset="-120"/>
              </a:rPr>
              <a:t>
</a:t>
            </a:r>
            <a:r>
              <a:rPr lang="en-US" altLang="zh-CN" sz="1550" dirty="0">
                <a:solidFill>
                  <a:srgbClr val="404155"/>
                </a:solidFill>
                <a:highlight>
                  <a:srgbClr val="ECECF2"/>
                </a:highlight>
                <a:latin typeface="Consolas" pitchFamily="34" charset="0"/>
                <a:ea typeface="Consolas" pitchFamily="34" charset="-122"/>
                <a:cs typeface="Consolas" pitchFamily="34" charset="-120"/>
              </a:rPr>
              <a:t>cat(paste("2. Most Unstable: [", most_unstable$productcategory, "] has the highest volatility (Highest CV).\n"))</a:t>
            </a:r>
            <a:endParaRPr lang="en-US" altLang="zh-CN" sz="1550" dirty="0">
              <a:solidFill>
                <a:srgbClr val="404155"/>
              </a:solidFill>
              <a:highlight>
                <a:srgbClr val="ECECF2"/>
              </a:highlight>
              <a:latin typeface="Consolas" pitchFamily="34" charset="0"/>
              <a:ea typeface="Consolas" pitchFamily="34" charset="-122"/>
              <a:cs typeface="Consolas" pitchFamily="34" charset="-120"/>
            </a:endParaRPr>
          </a:p>
          <a:p>
            <a:pPr marL="0" indent="0" algn="l">
              <a:lnSpc>
                <a:spcPts val="2500"/>
              </a:lnSpc>
              <a:buNone/>
            </a:pPr>
            <a:r>
              <a:rPr lang="en-US" sz="1550" dirty="0">
                <a:solidFill>
                  <a:srgbClr val="404155"/>
                </a:solidFill>
                <a:highlight>
                  <a:srgbClr val="ECECF2"/>
                </a:highlight>
                <a:latin typeface="Consolas" pitchFamily="34" charset="0"/>
                <a:ea typeface="Consolas" pitchFamily="34" charset="-122"/>
                <a:cs typeface="Consolas" pitchFamily="34" charset="-120"/>
              </a:rPr>
              <a:t>cat("   -&gt; Recommendation: This category may be highly seasonal or promotion-driven. Flexible inventory management is advised.\n")</a:t>
            </a:r>
            <a:endParaRPr lang="en-US" sz="1550" dirty="0">
              <a:solidFill>
                <a:srgbClr val="404155"/>
              </a:solidFill>
              <a:highlight>
                <a:srgbClr val="ECECF2"/>
              </a:highlight>
              <a:latin typeface="Consolas" pitchFamily="34" charset="0"/>
              <a:ea typeface="Consolas" pitchFamily="34" charset="-122"/>
              <a:cs typeface="Consolas" pitchFamily="34" charset="-120"/>
            </a:endParaRPr>
          </a:p>
        </p:txBody>
      </p:sp>
      <p:sp>
        <p:nvSpPr>
          <p:cNvPr id="6" name="Text 4"/>
          <p:cNvSpPr/>
          <p:nvPr/>
        </p:nvSpPr>
        <p:spPr>
          <a:xfrm>
            <a:off x="793790" y="5677059"/>
            <a:ext cx="13042821" cy="635079"/>
          </a:xfrm>
          <a:prstGeom prst="rect">
            <a:avLst/>
          </a:prstGeom>
          <a:noFill/>
        </p:spPr>
        <p:txBody>
          <a:bodyPr wrap="square" lIns="0" tIns="0" rIns="0" bIns="0" rtlCol="0" anchor="t"/>
          <a:lstStyle/>
          <a:p>
            <a:pPr marL="0" indent="0" algn="l">
              <a:lnSpc>
                <a:spcPts val="2500"/>
              </a:lnSpc>
              <a:buNone/>
            </a:pPr>
            <a:r>
              <a:rPr lang="en-US" sz="1550" dirty="0">
                <a:solidFill>
                  <a:srgbClr val="404155"/>
                </a:solidFill>
                <a:latin typeface="微软雅黑" pitchFamily="34" charset="0"/>
                <a:ea typeface="微软雅黑" pitchFamily="34" charset="-122"/>
                <a:cs typeface="微软雅黑" pitchFamily="34" charset="-120"/>
              </a:rPr>
              <a:t>Code can generate narrative insights automatically, highlighting the categories requiring strategic attention. </a:t>
            </a:r>
            <a:endParaRPr lang="en-US" sz="1550" dirty="0"/>
          </a:p>
        </p:txBody>
      </p:sp>
      <p:pic>
        <p:nvPicPr>
          <p:cNvPr id="7" name="图片 6"/>
          <p:cNvPicPr>
            <a:picLocks noChangeAspect="1"/>
          </p:cNvPicPr>
          <p:nvPr/>
        </p:nvPicPr>
        <p:blipFill>
          <a:blip r:embed="rId1"/>
          <a:stretch>
            <a:fillRect/>
          </a:stretch>
        </p:blipFill>
        <p:spPr>
          <a:xfrm>
            <a:off x="802640" y="6163310"/>
            <a:ext cx="8800465" cy="874395"/>
          </a:xfrm>
          <a:prstGeom prst="rect">
            <a:avLst/>
          </a:prstGeom>
        </p:spPr>
      </p:pic>
      <p:pic>
        <p:nvPicPr>
          <p:cNvPr id="8" name="图片 7"/>
          <p:cNvPicPr>
            <a:picLocks noChangeAspect="1"/>
          </p:cNvPicPr>
          <p:nvPr/>
        </p:nvPicPr>
        <p:blipFill>
          <a:blip r:embed="rId2"/>
          <a:stretch>
            <a:fillRect/>
          </a:stretch>
        </p:blipFill>
        <p:spPr>
          <a:xfrm>
            <a:off x="802640" y="7038340"/>
            <a:ext cx="10603230" cy="78803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2123956"/>
            <a:ext cx="2480905" cy="310158"/>
          </a:xfrm>
          <a:prstGeom prst="rect">
            <a:avLst/>
          </a:prstGeom>
          <a:noFill/>
        </p:spPr>
        <p:txBody>
          <a:bodyPr wrap="none" lIns="0" tIns="0" rIns="0" bIns="0" rtlCol="0" anchor="t"/>
          <a:lstStyle/>
          <a:p>
            <a:pPr marL="0" indent="0" algn="l">
              <a:lnSpc>
                <a:spcPts val="2400"/>
              </a:lnSpc>
              <a:buNone/>
            </a:pPr>
            <a:r>
              <a:rPr lang="en-US" sz="1950" dirty="0">
                <a:solidFill>
                  <a:srgbClr val="1B1B27"/>
                </a:solidFill>
                <a:latin typeface="微软雅黑" pitchFamily="34" charset="0"/>
                <a:ea typeface="微软雅黑" pitchFamily="34" charset="-122"/>
                <a:cs typeface="微软雅黑" pitchFamily="34" charset="-120"/>
              </a:rPr>
              <a:t>Correlation Analysis</a:t>
            </a:r>
            <a:endParaRPr lang="en-US" sz="1950" dirty="0"/>
          </a:p>
        </p:txBody>
      </p:sp>
      <p:sp>
        <p:nvSpPr>
          <p:cNvPr id="3" name="Text 1"/>
          <p:cNvSpPr/>
          <p:nvPr/>
        </p:nvSpPr>
        <p:spPr>
          <a:xfrm>
            <a:off x="793790" y="2513409"/>
            <a:ext cx="10890290" cy="620078"/>
          </a:xfrm>
          <a:prstGeom prst="rect">
            <a:avLst/>
          </a:prstGeom>
          <a:noFill/>
        </p:spPr>
        <p:txBody>
          <a:bodyPr wrap="none" lIns="0" tIns="0" rIns="0" bIns="0" rtlCol="0" anchor="t"/>
          <a:lstStyle/>
          <a:p>
            <a:pPr marL="0" indent="0" algn="l">
              <a:lnSpc>
                <a:spcPts val="4850"/>
              </a:lnSpc>
              <a:buNone/>
            </a:pPr>
            <a:r>
              <a:rPr lang="en-US" sz="3900" dirty="0">
                <a:solidFill>
                  <a:srgbClr val="1B1B27"/>
                </a:solidFill>
                <a:latin typeface="微软雅黑" pitchFamily="34" charset="0"/>
                <a:ea typeface="微软雅黑" pitchFamily="34" charset="-122"/>
                <a:cs typeface="微软雅黑" pitchFamily="34" charset="-120"/>
              </a:rPr>
              <a:t>Understanding Price, Rating &amp; Sales Relationships</a:t>
            </a:r>
            <a:endParaRPr lang="en-US" sz="3900" dirty="0"/>
          </a:p>
        </p:txBody>
      </p:sp>
      <p:sp>
        <p:nvSpPr>
          <p:cNvPr id="4" name="Text 2"/>
          <p:cNvSpPr/>
          <p:nvPr/>
        </p:nvSpPr>
        <p:spPr>
          <a:xfrm>
            <a:off x="793790" y="3431143"/>
            <a:ext cx="13042821" cy="317540"/>
          </a:xfrm>
          <a:prstGeom prst="rect">
            <a:avLst/>
          </a:prstGeom>
          <a:noFill/>
        </p:spPr>
        <p:txBody>
          <a:bodyPr wrap="none" lIns="0" tIns="0" rIns="0" bIns="0" rtlCol="0" anchor="t"/>
          <a:lstStyle/>
          <a:p>
            <a:pPr marL="0" indent="0" algn="l">
              <a:lnSpc>
                <a:spcPts val="2500"/>
              </a:lnSpc>
              <a:buNone/>
            </a:pPr>
            <a:r>
              <a:rPr lang="en-US" sz="1550" dirty="0">
                <a:solidFill>
                  <a:srgbClr val="404155"/>
                </a:solidFill>
                <a:latin typeface="微软雅黑" pitchFamily="34" charset="0"/>
                <a:ea typeface="微软雅黑" pitchFamily="34" charset="-122"/>
                <a:cs typeface="微软雅黑" pitchFamily="34" charset="-120"/>
              </a:rPr>
              <a:t>Does higher pricing suppress sales volume? Do better customer ratings drive more purchases? Correlation analysis reveals these relationships.</a:t>
            </a:r>
            <a:endParaRPr lang="en-US" sz="1550" dirty="0"/>
          </a:p>
        </p:txBody>
      </p:sp>
      <p:pic>
        <p:nvPicPr>
          <p:cNvPr id="5" name="Image 0" descr="preencoded.png"/>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93790" y="3971925"/>
            <a:ext cx="496133" cy="496133"/>
          </a:xfrm>
          <a:prstGeom prst="rect">
            <a:avLst/>
          </a:prstGeom>
        </p:spPr>
      </p:pic>
      <p:sp>
        <p:nvSpPr>
          <p:cNvPr id="6" name="Text 3"/>
          <p:cNvSpPr/>
          <p:nvPr/>
        </p:nvSpPr>
        <p:spPr>
          <a:xfrm>
            <a:off x="793790" y="4716066"/>
            <a:ext cx="2480905" cy="310158"/>
          </a:xfrm>
          <a:prstGeom prst="rect">
            <a:avLst/>
          </a:prstGeom>
          <a:noFill/>
        </p:spPr>
        <p:txBody>
          <a:bodyPr wrap="none" lIns="0" tIns="0" rIns="0" bIns="0" rtlCol="0" anchor="t"/>
          <a:lstStyle/>
          <a:p>
            <a:pPr marL="0" indent="0" algn="l">
              <a:lnSpc>
                <a:spcPts val="2400"/>
              </a:lnSpc>
              <a:buNone/>
            </a:pPr>
            <a:r>
              <a:rPr lang="en-US" sz="1950" dirty="0">
                <a:solidFill>
                  <a:srgbClr val="404155"/>
                </a:solidFill>
                <a:latin typeface="微软雅黑" pitchFamily="34" charset="0"/>
                <a:ea typeface="微软雅黑" pitchFamily="34" charset="-122"/>
                <a:cs typeface="微软雅黑" pitchFamily="34" charset="-120"/>
              </a:rPr>
              <a:t>Price Sensitivity</a:t>
            </a:r>
            <a:endParaRPr lang="en-US" sz="1950" dirty="0"/>
          </a:p>
        </p:txBody>
      </p:sp>
      <p:sp>
        <p:nvSpPr>
          <p:cNvPr id="7" name="Text 4"/>
          <p:cNvSpPr/>
          <p:nvPr/>
        </p:nvSpPr>
        <p:spPr>
          <a:xfrm>
            <a:off x="793790" y="5145286"/>
            <a:ext cx="4182189" cy="952619"/>
          </a:xfrm>
          <a:prstGeom prst="rect">
            <a:avLst/>
          </a:prstGeom>
          <a:noFill/>
        </p:spPr>
        <p:txBody>
          <a:bodyPr wrap="square" lIns="0" tIns="0" rIns="0" bIns="0" rtlCol="0" anchor="t"/>
          <a:lstStyle/>
          <a:p>
            <a:pPr marL="0" indent="0" algn="l">
              <a:lnSpc>
                <a:spcPts val="2500"/>
              </a:lnSpc>
              <a:buNone/>
            </a:pPr>
            <a:r>
              <a:rPr lang="en-US" sz="1550" dirty="0">
                <a:solidFill>
                  <a:srgbClr val="404155"/>
                </a:solidFill>
                <a:latin typeface="微软雅黑" pitchFamily="34" charset="0"/>
                <a:ea typeface="微软雅黑" pitchFamily="34" charset="-122"/>
                <a:cs typeface="微软雅黑" pitchFamily="34" charset="-120"/>
              </a:rPr>
              <a:t>Negative correlation between unit price and quantity sold indicates elastic demand—customers buy less when prices rise.</a:t>
            </a:r>
            <a:endParaRPr lang="en-US" sz="1550" dirty="0"/>
          </a:p>
        </p:txBody>
      </p:sp>
      <p:pic>
        <p:nvPicPr>
          <p:cNvPr id="8" name="Image 1" descr="preencoded.png"/>
          <p:cNvPicPr>
            <a:picLocks noChangeAspect="1"/>
          </p:cNvPicPr>
          <p:nvPr/>
        </p:nvPicPr>
        <p:blipFill>
          <a:blip r:embed="rId1">
            <a:extLst>
              <a:ext uri="{96DAC541-7B7A-43D3-8B79-37D633B846F1}">
                <asvg:svgBlip xmlns:asvg="http://schemas.microsoft.com/office/drawing/2016/SVG/main" r:embed="rId3"/>
              </a:ext>
            </a:extLst>
          </a:blip>
          <a:stretch>
            <a:fillRect/>
          </a:stretch>
        </p:blipFill>
        <p:spPr>
          <a:xfrm>
            <a:off x="5223986" y="3971925"/>
            <a:ext cx="496133" cy="496133"/>
          </a:xfrm>
          <a:prstGeom prst="rect">
            <a:avLst/>
          </a:prstGeom>
        </p:spPr>
      </p:pic>
      <p:sp>
        <p:nvSpPr>
          <p:cNvPr id="9" name="Text 5"/>
          <p:cNvSpPr/>
          <p:nvPr/>
        </p:nvSpPr>
        <p:spPr>
          <a:xfrm>
            <a:off x="5223986" y="4716066"/>
            <a:ext cx="2480905" cy="310158"/>
          </a:xfrm>
          <a:prstGeom prst="rect">
            <a:avLst/>
          </a:prstGeom>
          <a:noFill/>
        </p:spPr>
        <p:txBody>
          <a:bodyPr wrap="none" lIns="0" tIns="0" rIns="0" bIns="0" rtlCol="0" anchor="t"/>
          <a:lstStyle/>
          <a:p>
            <a:pPr marL="0" indent="0" algn="l">
              <a:lnSpc>
                <a:spcPts val="2400"/>
              </a:lnSpc>
              <a:buNone/>
            </a:pPr>
            <a:r>
              <a:rPr lang="en-US" sz="1950" dirty="0">
                <a:solidFill>
                  <a:srgbClr val="404155"/>
                </a:solidFill>
                <a:latin typeface="微软雅黑" pitchFamily="34" charset="0"/>
                <a:ea typeface="微软雅黑" pitchFamily="34" charset="-122"/>
                <a:cs typeface="微软雅黑" pitchFamily="34" charset="-120"/>
              </a:rPr>
              <a:t>Rating Impact</a:t>
            </a:r>
            <a:endParaRPr lang="en-US" sz="1950" dirty="0"/>
          </a:p>
        </p:txBody>
      </p:sp>
      <p:sp>
        <p:nvSpPr>
          <p:cNvPr id="10" name="Text 6"/>
          <p:cNvSpPr/>
          <p:nvPr/>
        </p:nvSpPr>
        <p:spPr>
          <a:xfrm>
            <a:off x="5223986" y="5145286"/>
            <a:ext cx="4182308" cy="952619"/>
          </a:xfrm>
          <a:prstGeom prst="rect">
            <a:avLst/>
          </a:prstGeom>
          <a:noFill/>
        </p:spPr>
        <p:txBody>
          <a:bodyPr wrap="square" lIns="0" tIns="0" rIns="0" bIns="0" rtlCol="0" anchor="t"/>
          <a:lstStyle/>
          <a:p>
            <a:pPr marL="0" indent="0" algn="l">
              <a:lnSpc>
                <a:spcPts val="2500"/>
              </a:lnSpc>
              <a:buNone/>
            </a:pPr>
            <a:r>
              <a:rPr lang="en-US" sz="1550" dirty="0">
                <a:solidFill>
                  <a:srgbClr val="404155"/>
                </a:solidFill>
                <a:latin typeface="微软雅黑" pitchFamily="34" charset="0"/>
                <a:ea typeface="微软雅黑" pitchFamily="34" charset="-122"/>
                <a:cs typeface="微软雅黑" pitchFamily="34" charset="-120"/>
              </a:rPr>
              <a:t>Positive correlation between ratings and sales demonstrates the power of social proof and word-of-mouth marketing.</a:t>
            </a:r>
            <a:endParaRPr lang="en-US" sz="1550" dirty="0"/>
          </a:p>
        </p:txBody>
      </p:sp>
      <p:pic>
        <p:nvPicPr>
          <p:cNvPr id="11" name="Image 2" descr="preencoded.png"/>
          <p:cNvPicPr>
            <a:picLocks noChangeAspect="1"/>
          </p:cNvPicPr>
          <p:nvPr/>
        </p:nvPicPr>
        <p:blipFill>
          <a:blip r:embed="rId1">
            <a:extLst>
              <a:ext uri="{96DAC541-7B7A-43D3-8B79-37D633B846F1}">
                <asvg:svgBlip xmlns:asvg="http://schemas.microsoft.com/office/drawing/2016/SVG/main" r:embed="rId4"/>
              </a:ext>
            </a:extLst>
          </a:blip>
          <a:stretch>
            <a:fillRect/>
          </a:stretch>
        </p:blipFill>
        <p:spPr>
          <a:xfrm>
            <a:off x="9654302" y="3971925"/>
            <a:ext cx="496133" cy="496133"/>
          </a:xfrm>
          <a:prstGeom prst="rect">
            <a:avLst/>
          </a:prstGeom>
        </p:spPr>
      </p:pic>
      <p:sp>
        <p:nvSpPr>
          <p:cNvPr id="12" name="Text 7"/>
          <p:cNvSpPr/>
          <p:nvPr/>
        </p:nvSpPr>
        <p:spPr>
          <a:xfrm>
            <a:off x="9654302" y="4716066"/>
            <a:ext cx="2480905" cy="310158"/>
          </a:xfrm>
          <a:prstGeom prst="rect">
            <a:avLst/>
          </a:prstGeom>
          <a:noFill/>
        </p:spPr>
        <p:txBody>
          <a:bodyPr wrap="none" lIns="0" tIns="0" rIns="0" bIns="0" rtlCol="0" anchor="t"/>
          <a:lstStyle/>
          <a:p>
            <a:pPr marL="0" indent="0" algn="l">
              <a:lnSpc>
                <a:spcPts val="2400"/>
              </a:lnSpc>
              <a:buNone/>
            </a:pPr>
            <a:r>
              <a:rPr lang="en-US" sz="1950" dirty="0">
                <a:solidFill>
                  <a:srgbClr val="404155"/>
                </a:solidFill>
                <a:latin typeface="微软雅黑" pitchFamily="34" charset="0"/>
                <a:ea typeface="微软雅黑" pitchFamily="34" charset="-122"/>
                <a:cs typeface="微软雅黑" pitchFamily="34" charset="-120"/>
              </a:rPr>
              <a:t>Correlation Matrix</a:t>
            </a:r>
            <a:endParaRPr lang="en-US" sz="1950" dirty="0"/>
          </a:p>
        </p:txBody>
      </p:sp>
      <p:sp>
        <p:nvSpPr>
          <p:cNvPr id="13" name="Text 8"/>
          <p:cNvSpPr/>
          <p:nvPr/>
        </p:nvSpPr>
        <p:spPr>
          <a:xfrm>
            <a:off x="9654302" y="5145286"/>
            <a:ext cx="4182308" cy="960239"/>
          </a:xfrm>
          <a:prstGeom prst="rect">
            <a:avLst/>
          </a:prstGeom>
          <a:noFill/>
        </p:spPr>
        <p:txBody>
          <a:bodyPr wrap="square" lIns="0" tIns="0" rIns="0" bIns="0" rtlCol="0" anchor="t"/>
          <a:lstStyle/>
          <a:p>
            <a:pPr marL="0" indent="0" algn="l">
              <a:lnSpc>
                <a:spcPts val="2500"/>
              </a:lnSpc>
              <a:buNone/>
            </a:pPr>
            <a:r>
              <a:rPr lang="en-US" sz="1550" dirty="0">
                <a:solidFill>
                  <a:srgbClr val="404155"/>
                </a:solidFill>
                <a:latin typeface="微软雅黑" pitchFamily="34" charset="0"/>
                <a:ea typeface="微软雅黑" pitchFamily="34" charset="-122"/>
                <a:cs typeface="微软雅黑" pitchFamily="34" charset="-120"/>
              </a:rPr>
              <a:t>The </a:t>
            </a:r>
            <a:r>
              <a:rPr lang="en-US" sz="1550" dirty="0">
                <a:solidFill>
                  <a:srgbClr val="404155"/>
                </a:solidFill>
                <a:highlight>
                  <a:srgbClr val="ECECF2"/>
                </a:highlight>
                <a:latin typeface="Consolas" pitchFamily="34" charset="0"/>
                <a:ea typeface="Consolas" pitchFamily="34" charset="-122"/>
                <a:cs typeface="Consolas" pitchFamily="34" charset="-120"/>
              </a:rPr>
              <a:t>cor()</a:t>
            </a:r>
            <a:r>
              <a:rPr lang="en-US" sz="1550" dirty="0">
                <a:solidFill>
                  <a:srgbClr val="404155"/>
                </a:solidFill>
                <a:latin typeface="微软雅黑" pitchFamily="34" charset="0"/>
                <a:ea typeface="微软雅黑" pitchFamily="34" charset="-122"/>
                <a:cs typeface="微软雅黑" pitchFamily="34" charset="-120"/>
              </a:rPr>
              <a:t> function computes Pearson correlation coefficients between all numeric variables simultaneously.</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1119307"/>
            <a:ext cx="5028724" cy="620078"/>
          </a:xfrm>
          <a:prstGeom prst="rect">
            <a:avLst/>
          </a:prstGeom>
          <a:noFill/>
        </p:spPr>
        <p:txBody>
          <a:bodyPr wrap="none" lIns="0" tIns="0" rIns="0" bIns="0" rtlCol="0" anchor="t"/>
          <a:lstStyle/>
          <a:p>
            <a:pPr marL="0" indent="0" algn="l">
              <a:lnSpc>
                <a:spcPts val="4850"/>
              </a:lnSpc>
              <a:buNone/>
            </a:pPr>
            <a:r>
              <a:rPr lang="en-US" sz="3900" dirty="0">
                <a:solidFill>
                  <a:srgbClr val="1B1B27"/>
                </a:solidFill>
                <a:latin typeface="微软雅黑" pitchFamily="34" charset="0"/>
                <a:ea typeface="微软雅黑" pitchFamily="34" charset="-122"/>
                <a:cs typeface="微软雅黑" pitchFamily="34" charset="-120"/>
              </a:rPr>
              <a:t>Simulating Rating Data</a:t>
            </a:r>
            <a:endParaRPr lang="en-US" sz="3900" dirty="0"/>
          </a:p>
        </p:txBody>
      </p:sp>
      <p:sp>
        <p:nvSpPr>
          <p:cNvPr id="3" name="Shape 1"/>
          <p:cNvSpPr/>
          <p:nvPr/>
        </p:nvSpPr>
        <p:spPr>
          <a:xfrm>
            <a:off x="793790" y="2136219"/>
            <a:ext cx="13042821" cy="4108133"/>
          </a:xfrm>
          <a:prstGeom prst="roundRect">
            <a:avLst>
              <a:gd name="adj" fmla="val 2029"/>
            </a:avLst>
          </a:prstGeom>
          <a:solidFill>
            <a:srgbClr val="ECECF2"/>
          </a:solidFill>
        </p:spPr>
      </p:sp>
      <p:sp>
        <p:nvSpPr>
          <p:cNvPr id="4" name="Shape 2"/>
          <p:cNvSpPr/>
          <p:nvPr/>
        </p:nvSpPr>
        <p:spPr>
          <a:xfrm>
            <a:off x="783908" y="2136219"/>
            <a:ext cx="13062585" cy="4108133"/>
          </a:xfrm>
          <a:prstGeom prst="roundRect">
            <a:avLst>
              <a:gd name="adj" fmla="val 725"/>
            </a:avLst>
          </a:prstGeom>
          <a:solidFill>
            <a:srgbClr val="ECECF2"/>
          </a:solidFill>
        </p:spPr>
      </p:sp>
      <p:sp>
        <p:nvSpPr>
          <p:cNvPr id="5" name="Text 3"/>
          <p:cNvSpPr/>
          <p:nvPr/>
        </p:nvSpPr>
        <p:spPr>
          <a:xfrm>
            <a:off x="982266" y="2285048"/>
            <a:ext cx="12665869" cy="3810476"/>
          </a:xfrm>
          <a:prstGeom prst="rect">
            <a:avLst/>
          </a:prstGeom>
          <a:noFill/>
        </p:spPr>
        <p:txBody>
          <a:bodyPr wrap="square" lIns="0" tIns="0" rIns="0" bIns="0" rtlCol="0" anchor="t"/>
          <a:lstStyle/>
          <a:p>
            <a:pPr marL="0" indent="0" algn="l">
              <a:lnSpc>
                <a:spcPts val="2500"/>
              </a:lnSpc>
              <a:buNone/>
            </a:pPr>
            <a:r>
              <a:rPr lang="en-US" sz="1550" dirty="0">
                <a:solidFill>
                  <a:srgbClr val="404155"/>
                </a:solidFill>
                <a:highlight>
                  <a:srgbClr val="ECECF2"/>
                </a:highlight>
                <a:latin typeface="Consolas" pitchFamily="34" charset="0"/>
                <a:ea typeface="Consolas" pitchFamily="34" charset="-122"/>
                <a:cs typeface="Consolas" pitchFamily="34" charset="-120"/>
              </a:rPr>
              <a:t># Original dataset lacks rating column
set.seed(999)
df_analysis &lt;- df_final
df_analysis$rating &lt;- round(runif(nrow(df_analysis), 
                                   min = 3.0, max = 5.0), 1)
# Calculate correlation matrix
cor_matrix &lt;- cor(df_analysis[, c("unitprice", 
                                   "quantitysold", 
                                   "rating")])
print(cor_matrix)
</a:t>
            </a:r>
            <a:endParaRPr lang="en-US" sz="1550" dirty="0"/>
          </a:p>
        </p:txBody>
      </p:sp>
      <p:sp>
        <p:nvSpPr>
          <p:cNvPr id="6" name="Text 4"/>
          <p:cNvSpPr/>
          <p:nvPr/>
        </p:nvSpPr>
        <p:spPr>
          <a:xfrm>
            <a:off x="793790" y="6467594"/>
            <a:ext cx="13042821" cy="642699"/>
          </a:xfrm>
          <a:prstGeom prst="rect">
            <a:avLst/>
          </a:prstGeom>
          <a:noFill/>
        </p:spPr>
        <p:txBody>
          <a:bodyPr wrap="square" lIns="0" tIns="0" rIns="0" bIns="0" rtlCol="0" anchor="t"/>
          <a:lstStyle/>
          <a:p>
            <a:pPr marL="0" indent="0" algn="l">
              <a:lnSpc>
                <a:spcPts val="2500"/>
              </a:lnSpc>
              <a:buNone/>
            </a:pPr>
            <a:r>
              <a:rPr lang="en-US" sz="1550" dirty="0">
                <a:solidFill>
                  <a:srgbClr val="404155"/>
                </a:solidFill>
                <a:latin typeface="微软雅黑" pitchFamily="34" charset="0"/>
                <a:ea typeface="微软雅黑" pitchFamily="34" charset="-122"/>
                <a:cs typeface="微软雅黑" pitchFamily="34" charset="-120"/>
              </a:rPr>
              <a:t>Since the original Amazon sales dataset doesn't include customer ratings, we simulate them using </a:t>
            </a:r>
            <a:r>
              <a:rPr lang="en-US" sz="1550" dirty="0">
                <a:solidFill>
                  <a:srgbClr val="404155"/>
                </a:solidFill>
                <a:highlight>
                  <a:srgbClr val="ECECF2"/>
                </a:highlight>
                <a:latin typeface="Consolas" pitchFamily="34" charset="0"/>
                <a:ea typeface="Consolas" pitchFamily="34" charset="-122"/>
                <a:cs typeface="Consolas" pitchFamily="34" charset="-120"/>
              </a:rPr>
              <a:t>runif()</a:t>
            </a:r>
            <a:r>
              <a:rPr lang="en-US" sz="1550" dirty="0">
                <a:solidFill>
                  <a:srgbClr val="404155"/>
                </a:solidFill>
                <a:latin typeface="微软雅黑" pitchFamily="34" charset="0"/>
                <a:ea typeface="微软雅黑" pitchFamily="34" charset="-122"/>
                <a:cs typeface="微软雅黑" pitchFamily="34" charset="-120"/>
              </a:rPr>
              <a:t> to generate random values between 3.0 and 5.0. This demonstrates the analytical technique—in production, you would use actual rating data.</a:t>
            </a:r>
            <a:endParaRPr lang="en-US" sz="1550" dirty="0"/>
          </a:p>
        </p:txBody>
      </p:sp>
      <p:pic>
        <p:nvPicPr>
          <p:cNvPr id="7" name="图片 6"/>
          <p:cNvPicPr>
            <a:picLocks noChangeAspect="1"/>
          </p:cNvPicPr>
          <p:nvPr/>
        </p:nvPicPr>
        <p:blipFill>
          <a:blip r:embed="rId1"/>
          <a:stretch>
            <a:fillRect/>
          </a:stretch>
        </p:blipFill>
        <p:spPr>
          <a:xfrm>
            <a:off x="7281545" y="3758565"/>
            <a:ext cx="5802630" cy="202311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1108234"/>
            <a:ext cx="7425809" cy="620078"/>
          </a:xfrm>
          <a:prstGeom prst="rect">
            <a:avLst/>
          </a:prstGeom>
          <a:noFill/>
        </p:spPr>
        <p:txBody>
          <a:bodyPr wrap="none" lIns="0" tIns="0" rIns="0" bIns="0" rtlCol="0" anchor="t"/>
          <a:lstStyle/>
          <a:p>
            <a:pPr marL="0" indent="0" algn="l">
              <a:lnSpc>
                <a:spcPts val="4850"/>
              </a:lnSpc>
              <a:buNone/>
            </a:pPr>
            <a:r>
              <a:rPr lang="en-US" sz="3900" dirty="0">
                <a:solidFill>
                  <a:srgbClr val="1B1B27"/>
                </a:solidFill>
                <a:latin typeface="微软雅黑" pitchFamily="34" charset="0"/>
                <a:ea typeface="微软雅黑" pitchFamily="34" charset="-122"/>
                <a:cs typeface="微软雅黑" pitchFamily="34" charset="-120"/>
              </a:rPr>
              <a:t>Price vs. Sales: The Demand Curve</a:t>
            </a:r>
            <a:endParaRPr lang="en-US" sz="3900" dirty="0"/>
          </a:p>
        </p:txBody>
      </p:sp>
      <p:sp>
        <p:nvSpPr>
          <p:cNvPr id="3" name="Text 1"/>
          <p:cNvSpPr/>
          <p:nvPr/>
        </p:nvSpPr>
        <p:spPr>
          <a:xfrm>
            <a:off x="793790" y="2224326"/>
            <a:ext cx="2480905" cy="310158"/>
          </a:xfrm>
          <a:prstGeom prst="rect">
            <a:avLst/>
          </a:prstGeom>
          <a:noFill/>
        </p:spPr>
        <p:txBody>
          <a:bodyPr wrap="none" lIns="0" tIns="0" rIns="0" bIns="0" rtlCol="0" anchor="t"/>
          <a:lstStyle/>
          <a:p>
            <a:pPr marL="0" indent="0" algn="l">
              <a:lnSpc>
                <a:spcPts val="2400"/>
              </a:lnSpc>
              <a:buNone/>
            </a:pPr>
            <a:r>
              <a:rPr lang="en-US" sz="1950" dirty="0">
                <a:solidFill>
                  <a:srgbClr val="1B1B27"/>
                </a:solidFill>
                <a:latin typeface="微软雅黑" pitchFamily="34" charset="0"/>
                <a:ea typeface="微软雅黑" pitchFamily="34" charset="-122"/>
                <a:cs typeface="微软雅黑" pitchFamily="34" charset="-120"/>
              </a:rPr>
              <a:t>Economic Theory</a:t>
            </a:r>
            <a:endParaRPr lang="en-US" sz="1950" dirty="0"/>
          </a:p>
        </p:txBody>
      </p:sp>
      <p:sp>
        <p:nvSpPr>
          <p:cNvPr id="4" name="Text 2"/>
          <p:cNvSpPr/>
          <p:nvPr/>
        </p:nvSpPr>
        <p:spPr>
          <a:xfrm>
            <a:off x="793790" y="2732842"/>
            <a:ext cx="4926568" cy="635079"/>
          </a:xfrm>
          <a:prstGeom prst="rect">
            <a:avLst/>
          </a:prstGeom>
          <a:noFill/>
        </p:spPr>
        <p:txBody>
          <a:bodyPr wrap="square" lIns="0" tIns="0" rIns="0" bIns="0" rtlCol="0" anchor="t"/>
          <a:lstStyle/>
          <a:p>
            <a:pPr marL="0" indent="0" algn="l">
              <a:lnSpc>
                <a:spcPts val="2500"/>
              </a:lnSpc>
              <a:buNone/>
            </a:pPr>
            <a:r>
              <a:rPr lang="en-US" sz="1550" dirty="0">
                <a:solidFill>
                  <a:srgbClr val="404155"/>
                </a:solidFill>
                <a:latin typeface="微软雅黑" pitchFamily="34" charset="0"/>
                <a:ea typeface="微软雅黑" pitchFamily="34" charset="-122"/>
                <a:cs typeface="微软雅黑" pitchFamily="34" charset="-120"/>
              </a:rPr>
              <a:t>Basic economics predicts an inverse relationship: as price increases, quantity demanded decreases.</a:t>
            </a:r>
            <a:endParaRPr lang="en-US" sz="1550" dirty="0"/>
          </a:p>
        </p:txBody>
      </p:sp>
      <p:sp>
        <p:nvSpPr>
          <p:cNvPr id="5" name="Text 3"/>
          <p:cNvSpPr/>
          <p:nvPr/>
        </p:nvSpPr>
        <p:spPr>
          <a:xfrm>
            <a:off x="793790" y="3546515"/>
            <a:ext cx="4926568" cy="317540"/>
          </a:xfrm>
          <a:prstGeom prst="rect">
            <a:avLst/>
          </a:prstGeom>
          <a:noFill/>
        </p:spPr>
        <p:txBody>
          <a:bodyPr wrap="none" lIns="0" tIns="0" rIns="0" bIns="0" rtlCol="0" anchor="t"/>
          <a:lstStyle/>
          <a:p>
            <a:pPr marL="0" indent="0" algn="l">
              <a:lnSpc>
                <a:spcPts val="2500"/>
              </a:lnSpc>
              <a:buNone/>
            </a:pPr>
            <a:r>
              <a:rPr lang="en-US" sz="1550" dirty="0">
                <a:solidFill>
                  <a:srgbClr val="404155"/>
                </a:solidFill>
                <a:latin typeface="微软雅黑" pitchFamily="34" charset="0"/>
                <a:ea typeface="微软雅黑" pitchFamily="34" charset="-122"/>
                <a:cs typeface="微软雅黑" pitchFamily="34" charset="-120"/>
              </a:rPr>
              <a:t>A negative correlation confirms this pattern in our data.</a:t>
            </a:r>
            <a:endParaRPr lang="en-US" sz="1550" dirty="0"/>
          </a:p>
        </p:txBody>
      </p:sp>
      <p:sp>
        <p:nvSpPr>
          <p:cNvPr id="6" name="Text 4"/>
          <p:cNvSpPr/>
          <p:nvPr/>
        </p:nvSpPr>
        <p:spPr>
          <a:xfrm>
            <a:off x="793790" y="4042648"/>
            <a:ext cx="4926568" cy="317540"/>
          </a:xfrm>
          <a:prstGeom prst="rect">
            <a:avLst/>
          </a:prstGeom>
          <a:noFill/>
        </p:spPr>
        <p:txBody>
          <a:bodyPr wrap="none" lIns="0" tIns="0" rIns="0" bIns="0" rtlCol="0" anchor="t"/>
          <a:lstStyle/>
          <a:p>
            <a:pPr marL="0" indent="0" algn="l">
              <a:lnSpc>
                <a:spcPts val="2500"/>
              </a:lnSpc>
              <a:buNone/>
            </a:pPr>
            <a:r>
              <a:rPr lang="en-US" sz="1550" b="1" dirty="0">
                <a:solidFill>
                  <a:srgbClr val="404155"/>
                </a:solidFill>
                <a:latin typeface="微软雅黑" pitchFamily="34" charset="0"/>
                <a:ea typeface="微软雅黑" pitchFamily="34" charset="-122"/>
                <a:cs typeface="微软雅黑" pitchFamily="34" charset="-120"/>
              </a:rPr>
              <a:t>Interpretation:</a:t>
            </a:r>
            <a:endParaRPr lang="en-US" sz="1550" dirty="0"/>
          </a:p>
        </p:txBody>
      </p:sp>
      <p:sp>
        <p:nvSpPr>
          <p:cNvPr id="7" name="Text 5"/>
          <p:cNvSpPr/>
          <p:nvPr/>
        </p:nvSpPr>
        <p:spPr>
          <a:xfrm>
            <a:off x="793790" y="4538782"/>
            <a:ext cx="4926568" cy="317540"/>
          </a:xfrm>
          <a:prstGeom prst="rect">
            <a:avLst/>
          </a:prstGeom>
          <a:noFill/>
        </p:spPr>
        <p:txBody>
          <a:bodyPr wrap="none" lIns="0" tIns="0" rIns="0" bIns="0" rtlCol="0" anchor="t"/>
          <a:lstStyle/>
          <a:p>
            <a:pPr marL="342900" indent="-342900" algn="l">
              <a:lnSpc>
                <a:spcPts val="2500"/>
              </a:lnSpc>
              <a:buSzPct val="100000"/>
              <a:buChar char="•"/>
            </a:pPr>
            <a:r>
              <a:rPr lang="en-US" sz="1550" dirty="0">
                <a:solidFill>
                  <a:srgbClr val="404155"/>
                </a:solidFill>
                <a:latin typeface="微软雅黑" pitchFamily="34" charset="0"/>
                <a:ea typeface="微软雅黑" pitchFamily="34" charset="-122"/>
                <a:cs typeface="微软雅黑" pitchFamily="34" charset="-120"/>
              </a:rPr>
              <a:t>Strong negative (-0.5 to -1.0): Price very sensitive</a:t>
            </a:r>
            <a:endParaRPr lang="en-US" sz="1550" dirty="0"/>
          </a:p>
        </p:txBody>
      </p:sp>
      <p:sp>
        <p:nvSpPr>
          <p:cNvPr id="8" name="Text 6"/>
          <p:cNvSpPr/>
          <p:nvPr/>
        </p:nvSpPr>
        <p:spPr>
          <a:xfrm>
            <a:off x="793790" y="4925735"/>
            <a:ext cx="4926568" cy="317540"/>
          </a:xfrm>
          <a:prstGeom prst="rect">
            <a:avLst/>
          </a:prstGeom>
          <a:noFill/>
        </p:spPr>
        <p:txBody>
          <a:bodyPr wrap="none" lIns="0" tIns="0" rIns="0" bIns="0" rtlCol="0" anchor="t"/>
          <a:lstStyle/>
          <a:p>
            <a:pPr marL="342900" indent="-342900" algn="l">
              <a:lnSpc>
                <a:spcPts val="2500"/>
              </a:lnSpc>
              <a:buSzPct val="100000"/>
              <a:buChar char="•"/>
            </a:pPr>
            <a:r>
              <a:rPr lang="en-US" sz="1550" dirty="0">
                <a:solidFill>
                  <a:srgbClr val="404155"/>
                </a:solidFill>
                <a:latin typeface="微软雅黑" pitchFamily="34" charset="0"/>
                <a:ea typeface="微软雅黑" pitchFamily="34" charset="-122"/>
                <a:cs typeface="微软雅黑" pitchFamily="34" charset="-120"/>
              </a:rPr>
              <a:t>Weak negative (-0.3 to 0): Luxury/inelastic goods</a:t>
            </a:r>
            <a:endParaRPr lang="en-US" sz="1550" dirty="0"/>
          </a:p>
        </p:txBody>
      </p:sp>
      <p:sp>
        <p:nvSpPr>
          <p:cNvPr id="9" name="Shape 7"/>
          <p:cNvSpPr/>
          <p:nvPr/>
        </p:nvSpPr>
        <p:spPr>
          <a:xfrm>
            <a:off x="6212086" y="2249210"/>
            <a:ext cx="7632025" cy="4108133"/>
          </a:xfrm>
          <a:prstGeom prst="roundRect">
            <a:avLst>
              <a:gd name="adj" fmla="val 2029"/>
            </a:avLst>
          </a:prstGeom>
          <a:solidFill>
            <a:srgbClr val="ECECF2"/>
          </a:solidFill>
        </p:spPr>
      </p:sp>
      <p:sp>
        <p:nvSpPr>
          <p:cNvPr id="10" name="Shape 8"/>
          <p:cNvSpPr/>
          <p:nvPr/>
        </p:nvSpPr>
        <p:spPr>
          <a:xfrm>
            <a:off x="6202204" y="2249210"/>
            <a:ext cx="7651790" cy="4108133"/>
          </a:xfrm>
          <a:prstGeom prst="roundRect">
            <a:avLst>
              <a:gd name="adj" fmla="val 725"/>
            </a:avLst>
          </a:prstGeom>
          <a:solidFill>
            <a:srgbClr val="ECECF2"/>
          </a:solidFill>
        </p:spPr>
      </p:sp>
      <p:sp>
        <p:nvSpPr>
          <p:cNvPr id="11" name="Text 9"/>
          <p:cNvSpPr/>
          <p:nvPr/>
        </p:nvSpPr>
        <p:spPr>
          <a:xfrm>
            <a:off x="6400562" y="2398038"/>
            <a:ext cx="7255073" cy="3810476"/>
          </a:xfrm>
          <a:prstGeom prst="rect">
            <a:avLst/>
          </a:prstGeom>
          <a:noFill/>
        </p:spPr>
        <p:txBody>
          <a:bodyPr wrap="square" lIns="0" tIns="0" rIns="0" bIns="0" rtlCol="0" anchor="t"/>
          <a:lstStyle/>
          <a:p>
            <a:pPr marL="0" indent="0" algn="l">
              <a:lnSpc>
                <a:spcPts val="2500"/>
              </a:lnSpc>
              <a:buNone/>
            </a:pPr>
            <a:r>
              <a:rPr lang="en-US" sz="1550" dirty="0">
                <a:solidFill>
                  <a:srgbClr val="404155"/>
                </a:solidFill>
                <a:highlight>
                  <a:srgbClr val="ECECF2"/>
                </a:highlight>
                <a:latin typeface="Consolas" pitchFamily="34" charset="0"/>
                <a:ea typeface="Consolas" pitchFamily="34" charset="-122"/>
                <a:cs typeface="Consolas" pitchFamily="34" charset="-120"/>
              </a:rPr>
              <a:t>p3 &lt;- ggplot(df_analysis, 
             aes(x = unitprice, y = quantitysold)) +
  geom_point(alpha = 0.3, color = "blue") +
  geom_smooth(method = "lm", color = "red", se = TRUE) +
  labs(
    title = "Correlation: Unit Price vs Quantity Sold",
    subtitle = "Downward trend indicates negative correlation",
    x = "Unit Price",
    y = "Quantity Sold per Order"
  ) +
  theme_minimal()
</a:t>
            </a:r>
            <a:endParaRPr lang="en-US" sz="1550" dirty="0"/>
          </a:p>
        </p:txBody>
      </p:sp>
      <p:sp>
        <p:nvSpPr>
          <p:cNvPr id="12" name="Text 10"/>
          <p:cNvSpPr/>
          <p:nvPr/>
        </p:nvSpPr>
        <p:spPr>
          <a:xfrm>
            <a:off x="793790" y="6803827"/>
            <a:ext cx="13042821" cy="317540"/>
          </a:xfrm>
          <a:prstGeom prst="rect">
            <a:avLst/>
          </a:prstGeom>
          <a:noFill/>
        </p:spPr>
        <p:txBody>
          <a:bodyPr wrap="none" lIns="0" tIns="0" rIns="0" bIns="0" rtlCol="0" anchor="t"/>
          <a:lstStyle/>
          <a:p>
            <a:pPr marL="0" indent="0" algn="l">
              <a:lnSpc>
                <a:spcPts val="2500"/>
              </a:lnSpc>
              <a:buNone/>
            </a:pPr>
            <a:r>
              <a:rPr lang="en-US" sz="1550" dirty="0">
                <a:solidFill>
                  <a:srgbClr val="404155"/>
                </a:solidFill>
                <a:latin typeface="微软雅黑" pitchFamily="34" charset="0"/>
                <a:ea typeface="微软雅黑" pitchFamily="34" charset="-122"/>
                <a:cs typeface="微软雅黑" pitchFamily="34" charset="-120"/>
              </a:rPr>
              <a:t>The scatter plot reveals the underlying relationship, while the red regression line quantifies the trend direction and strength.</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847725" y="0"/>
            <a:ext cx="12934315" cy="82296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852726"/>
            <a:ext cx="6051590" cy="620078"/>
          </a:xfrm>
          <a:prstGeom prst="rect">
            <a:avLst/>
          </a:prstGeom>
          <a:noFill/>
        </p:spPr>
        <p:txBody>
          <a:bodyPr wrap="none" lIns="0" tIns="0" rIns="0" bIns="0" rtlCol="0" anchor="t"/>
          <a:lstStyle/>
          <a:p>
            <a:pPr marL="0" indent="0" algn="l">
              <a:lnSpc>
                <a:spcPts val="4850"/>
              </a:lnSpc>
              <a:buNone/>
            </a:pPr>
            <a:r>
              <a:rPr lang="en-US" sz="3900" dirty="0">
                <a:solidFill>
                  <a:srgbClr val="1B1B27"/>
                </a:solidFill>
                <a:latin typeface="微软雅黑" pitchFamily="34" charset="0"/>
                <a:ea typeface="微软雅黑" pitchFamily="34" charset="-122"/>
                <a:cs typeface="微软雅黑" pitchFamily="34" charset="-120"/>
              </a:rPr>
              <a:t>Rating vs. Sales Distribution</a:t>
            </a:r>
            <a:endParaRPr lang="en-US" sz="3900" dirty="0"/>
          </a:p>
        </p:txBody>
      </p:sp>
      <p:sp>
        <p:nvSpPr>
          <p:cNvPr id="3" name="Shape 1"/>
          <p:cNvSpPr/>
          <p:nvPr/>
        </p:nvSpPr>
        <p:spPr>
          <a:xfrm>
            <a:off x="793790" y="1869638"/>
            <a:ext cx="13042821" cy="3790593"/>
          </a:xfrm>
          <a:prstGeom prst="roundRect">
            <a:avLst>
              <a:gd name="adj" fmla="val 2199"/>
            </a:avLst>
          </a:prstGeom>
          <a:solidFill>
            <a:srgbClr val="ECECF2"/>
          </a:solidFill>
        </p:spPr>
      </p:sp>
      <p:sp>
        <p:nvSpPr>
          <p:cNvPr id="4" name="Shape 2"/>
          <p:cNvSpPr/>
          <p:nvPr/>
        </p:nvSpPr>
        <p:spPr>
          <a:xfrm>
            <a:off x="783908" y="1869638"/>
            <a:ext cx="13062585" cy="3790593"/>
          </a:xfrm>
          <a:prstGeom prst="roundRect">
            <a:avLst>
              <a:gd name="adj" fmla="val 785"/>
            </a:avLst>
          </a:prstGeom>
          <a:solidFill>
            <a:srgbClr val="ECECF2"/>
          </a:solidFill>
        </p:spPr>
      </p:sp>
      <p:sp>
        <p:nvSpPr>
          <p:cNvPr id="5" name="Text 3"/>
          <p:cNvSpPr/>
          <p:nvPr/>
        </p:nvSpPr>
        <p:spPr>
          <a:xfrm>
            <a:off x="982266" y="2018467"/>
            <a:ext cx="12665869" cy="3492937"/>
          </a:xfrm>
          <a:prstGeom prst="rect">
            <a:avLst/>
          </a:prstGeom>
          <a:noFill/>
        </p:spPr>
        <p:txBody>
          <a:bodyPr wrap="square" lIns="0" tIns="0" rIns="0" bIns="0" rtlCol="0" anchor="t"/>
          <a:lstStyle/>
          <a:p>
            <a:pPr marL="0" indent="0" algn="l">
              <a:lnSpc>
                <a:spcPts val="2500"/>
              </a:lnSpc>
              <a:buNone/>
            </a:pPr>
            <a:r>
              <a:rPr lang="en-US" sz="1550" dirty="0">
                <a:solidFill>
                  <a:srgbClr val="404155"/>
                </a:solidFill>
                <a:highlight>
                  <a:srgbClr val="ECECF2"/>
                </a:highlight>
                <a:latin typeface="Consolas" pitchFamily="34" charset="0"/>
                <a:ea typeface="Consolas" pitchFamily="34" charset="-122"/>
                <a:cs typeface="Consolas" pitchFamily="34" charset="-120"/>
              </a:rPr>
              <a:t>p4 &lt;- ggplot(df_analysis, 
             aes(x = factor(rating), y = quantitysold)) +
  geom_boxplot(fill = "orange", alpha = 0.6) +
  labs(
    title = "Product Rating vs Sales Distribution",
    subtitle = "Do higher ratings lead to higher sales per order?",
    x = "User Rating",
    y = "Sales Distribution"
  ) +
  theme_minimal()
</a:t>
            </a:r>
            <a:endParaRPr lang="en-US" sz="1550" dirty="0"/>
          </a:p>
        </p:txBody>
      </p:sp>
      <p:sp>
        <p:nvSpPr>
          <p:cNvPr id="6" name="Text 4"/>
          <p:cNvSpPr/>
          <p:nvPr/>
        </p:nvSpPr>
        <p:spPr>
          <a:xfrm>
            <a:off x="793790" y="5883473"/>
            <a:ext cx="13042821" cy="635079"/>
          </a:xfrm>
          <a:prstGeom prst="rect">
            <a:avLst/>
          </a:prstGeom>
          <a:noFill/>
        </p:spPr>
        <p:txBody>
          <a:bodyPr wrap="square" lIns="0" tIns="0" rIns="0" bIns="0" rtlCol="0" anchor="t"/>
          <a:lstStyle/>
          <a:p>
            <a:pPr marL="0" indent="0" algn="l">
              <a:lnSpc>
                <a:spcPts val="2500"/>
              </a:lnSpc>
              <a:buNone/>
            </a:pPr>
            <a:r>
              <a:rPr lang="en-US" sz="1550" dirty="0">
                <a:solidFill>
                  <a:srgbClr val="404155"/>
                </a:solidFill>
                <a:latin typeface="微软雅黑" pitchFamily="34" charset="0"/>
                <a:ea typeface="微软雅黑" pitchFamily="34" charset="-122"/>
                <a:cs typeface="微软雅黑" pitchFamily="34" charset="-120"/>
              </a:rPr>
              <a:t>Boxplots show the distribution of sales quantities for each rating level. If higher-rated products consistently show higher median sales (middle line of box), it confirms that positive reviews drive purchasing behavior.</a:t>
            </a:r>
            <a:endParaRPr lang="en-US" sz="1550" dirty="0"/>
          </a:p>
        </p:txBody>
      </p:sp>
      <p:sp>
        <p:nvSpPr>
          <p:cNvPr id="7" name="Text 5"/>
          <p:cNvSpPr/>
          <p:nvPr/>
        </p:nvSpPr>
        <p:spPr>
          <a:xfrm>
            <a:off x="793790" y="6741795"/>
            <a:ext cx="13042821" cy="635079"/>
          </a:xfrm>
          <a:prstGeom prst="rect">
            <a:avLst/>
          </a:prstGeom>
          <a:noFill/>
        </p:spPr>
        <p:txBody>
          <a:bodyPr wrap="square" lIns="0" tIns="0" rIns="0" bIns="0" rtlCol="0" anchor="t"/>
          <a:lstStyle/>
          <a:p>
            <a:pPr marL="0" indent="0" algn="l">
              <a:lnSpc>
                <a:spcPts val="2500"/>
              </a:lnSpc>
              <a:buNone/>
            </a:pP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1172845" y="0"/>
            <a:ext cx="12284075" cy="82296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6186</Words>
  <Application>WPS 文字</Application>
  <PresentationFormat>On-screen Show (16:9)</PresentationFormat>
  <Paragraphs>96</Paragraphs>
  <Slides>13</Slides>
  <Notes>30</Notes>
  <HiddenSlides>0</HiddenSlides>
  <MMClips>0</MMClips>
  <ScaleCrop>false</ScaleCrop>
  <HeadingPairs>
    <vt:vector size="6" baseType="variant">
      <vt:variant>
        <vt:lpstr>已用的字体</vt:lpstr>
      </vt:variant>
      <vt:variant>
        <vt:i4>21</vt:i4>
      </vt:variant>
      <vt:variant>
        <vt:lpstr>主题</vt:lpstr>
      </vt:variant>
      <vt:variant>
        <vt:i4>1</vt:i4>
      </vt:variant>
      <vt:variant>
        <vt:lpstr>幻灯片标题</vt:lpstr>
      </vt:variant>
      <vt:variant>
        <vt:i4>13</vt:i4>
      </vt:variant>
    </vt:vector>
  </HeadingPairs>
  <TitlesOfParts>
    <vt:vector size="35" baseType="lpstr">
      <vt:lpstr>Arial</vt:lpstr>
      <vt:lpstr>宋体</vt:lpstr>
      <vt:lpstr>Wingdings</vt:lpstr>
      <vt:lpstr>微软雅黑</vt:lpstr>
      <vt:lpstr>汉仪旗黑</vt:lpstr>
      <vt:lpstr>微软雅黑</vt:lpstr>
      <vt:lpstr>微软雅黑</vt:lpstr>
      <vt:lpstr>Microsoft YaHei Light</vt:lpstr>
      <vt:lpstr>Microsoft YaHei Light</vt:lpstr>
      <vt:lpstr>Microsoft YaHei Light</vt:lpstr>
      <vt:lpstr>Consolas</vt:lpstr>
      <vt:lpstr>Consolas</vt:lpstr>
      <vt:lpstr>Consolas</vt:lpstr>
      <vt:lpstr>Calibri</vt:lpstr>
      <vt:lpstr>Helvetica Neue</vt:lpstr>
      <vt:lpstr>宋体</vt:lpstr>
      <vt:lpstr>Arial Unicode MS</vt:lpstr>
      <vt:lpstr>等线</vt:lpstr>
      <vt:lpstr>汉仪中等线KW</vt:lpstr>
      <vt:lpstr>汉仪书宋二KW</vt:lpstr>
      <vt:lpstr>苹方-简</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卢铭浩</cp:lastModifiedBy>
  <cp:revision>4</cp:revision>
  <dcterms:created xsi:type="dcterms:W3CDTF">2025-12-10T03:43:32Z</dcterms:created>
  <dcterms:modified xsi:type="dcterms:W3CDTF">2025-12-10T03:43:32Z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9625495CBAFE5DBA39E4386942686CE4_42</vt:lpwstr>
  </property>
  <property fmtid="{D5CDD505-2E9C-101B-9397-08002B2CF9AE}" pid="3" name="KSOProductBuildVer">
    <vt:lpwstr>2052-12.1.23540.23540</vt:lpwstr>
  </property>
</Properties>
</file>